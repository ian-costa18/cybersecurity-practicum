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172" autoAdjust="0"/>
  </p:normalViewPr>
  <p:slideViewPr>
    <p:cSldViewPr snapToGrid="0" snapToObjects="1">
      <p:cViewPr varScale="1">
        <p:scale>
          <a:sx n="86" d="100"/>
          <a:sy n="86" d="100"/>
        </p:scale>
        <p:origin x="1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46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Ian here with my first progress update on my practicum project. This week I want to spend most of our time on the idea itself, because I think the concept is what makes this project interesting. The project is a multi-signature authentication web proxy — in plain terms, a system that requires more than one person to approve before someone can get into something important. I'll walk you through where the idea comes from, why it matters, and how it would work, and then I'll end with a question I'd love feedback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isn't new — it actually comes straight from the world of cryptocurrency. Enterprise-grade crypto wallets have used multi-signature, or multi-sig, for years. The way it works is that to move funds out of a wallet, you need two of three keys to sign off. No single person can send a transaction on their own. The security doesn't come from trusting one individual — it comes from requiring the group to cooperate. That's the core idea I want to borrow.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gap I noticed. When you look at web authentication — tools like Duo or Authelia — they're all really good at proving that you are who you say you are. But every one of them is still built around a single identity. There's no general-purpose system out there that requires several distinct people to cooperate before access is granted. That's the space my project is trying to fill.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idea, stated simply: a web proxy that grants access only when a quorum of approvers each provide their secret key. It sits in front of whatever resource you want to protect. When a request comes in, the proxy catches it and holds it, and only releases it to the user once enough people have signed off. And importantly, the application behind it doesn't need to be modified at all — the proxy handles everything in front of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right now? Supply-chain attacks. We keep seeing them succeed on package registries like npm and PyPI, and the reason they work is that compromising just one developer account is enough to ship malicious code to everyone downstream. Current solutions mostly try to lock down individual accounts harder. My take is different — if you require multiple humans to approve a release, then an attacker has to compromise the whole team instead of one person. That's a much higher bar.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flow works, start to finish. First, the proxy intercepts the request and holds onto it instead of letting it through. Second, it notifies the approvers on that resource's access list that something is waiting for review. Third, those approvers each present their secret key, and approvals are gathered until the quorum is reached. And finally, once there are enough approvals, the held request is forwarded on to the real endpoint. The quorum size is configurable per resource through an access control list, so you can tune how strict each thing 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ground that in a concrete example: publishing a package to PyPI. A maintainer runs publish, but instead of pushing it live, the proxy intercepts and saves the release. The other maintainers get notified that a package is waiting. Approvals are gathered until the quorum is met. And only then does the publish request actually get forwarded to the public repository. The end result is that no single person can ship code to every downstream user on their own.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note on where things actually stand, since this is a progress update. I'm still in the research phase. This week I defined the problem, the motivation, and the real-world use cases, I mapped out the PyPI publishing flow end to end, and I started digging into the cryptography primitives behind multi-signature schemes. For the week ahead, I want to choose an actual authentication scheme grounded in peer-reviewed work, and start writing the architecture and specifications for the proxy, the notification system, and the approval system.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brings me to the part I'd most like your help with — there are three open questions on my mind. First, bypassing the proxy: for internal apps it sits cleanly in front, but for external sites a user could just skip it and log in directly, and I'm not sure of the cleanest way to prevent that. Second, the signature scheme itself — I'm still deciding which cryptographic primitive best combines several people's distinct secrets into a single approval, and I'd love pointers to prior work I should anchor to. And third, scope: beyond package publishing, where else is 'require N people to approve' genuinely valuable, and which use case should I build around first? Any thoughts on any of these would really help shape the next couple of weeks. Thanks for watching.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70E16"/>
          </a:solidFill>
          <a:ln/>
        </p:spPr>
        <p:txBody>
          <a:bodyPr/>
          <a:lstStyle/>
          <a:p>
            <a:endParaRPr lang="en-US"/>
          </a:p>
        </p:txBody>
      </p:sp>
      <p:sp>
        <p:nvSpPr>
          <p:cNvPr id="3" name="Text 1"/>
          <p:cNvSpPr/>
          <p:nvPr/>
        </p:nvSpPr>
        <p:spPr>
          <a:xfrm>
            <a:off x="1066800" y="914400"/>
            <a:ext cx="16639032"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42B8EF"/>
                </a:solidFill>
                <a:latin typeface="IBM Plex Mono" pitchFamily="34" charset="0"/>
                <a:ea typeface="IBM Plex Mono" pitchFamily="34" charset="-122"/>
                <a:cs typeface="IBM Plex Mono" pitchFamily="34" charset="-120"/>
              </a:rPr>
              <a:t>CS 6727 · CYBERSECURITY PRACTICUM · WEEK 1</a:t>
            </a:r>
            <a:endParaRPr lang="en-US" sz="1800" dirty="0"/>
          </a:p>
        </p:txBody>
      </p:sp>
      <p:sp>
        <p:nvSpPr>
          <p:cNvPr id="4" name="Text 2"/>
          <p:cNvSpPr/>
          <p:nvPr/>
        </p:nvSpPr>
        <p:spPr>
          <a:xfrm>
            <a:off x="1066800" y="2710339"/>
            <a:ext cx="16639032" cy="3174682"/>
          </a:xfrm>
          <a:prstGeom prst="rect">
            <a:avLst/>
          </a:prstGeom>
          <a:noFill/>
          <a:ln/>
        </p:spPr>
        <p:txBody>
          <a:bodyPr wrap="square" lIns="25400" tIns="25400" rIns="25400" bIns="25400" rtlCol="0" anchor="t">
            <a:normAutofit/>
          </a:bodyPr>
          <a:lstStyle/>
          <a:p>
            <a:pPr marL="0" indent="0" algn="l">
              <a:lnSpc>
                <a:spcPct val="98006"/>
              </a:lnSpc>
              <a:buNone/>
            </a:pPr>
            <a:r>
              <a:rPr lang="en-US" sz="8400" b="1" kern="0" spc="-210" dirty="0">
                <a:solidFill>
                  <a:srgbClr val="EFF2F5"/>
                </a:solidFill>
                <a:latin typeface="Arial" pitchFamily="34" charset="0"/>
                <a:ea typeface="Arial" pitchFamily="34" charset="-122"/>
                <a:cs typeface="Arial" pitchFamily="34" charset="-120"/>
              </a:rPr>
              <a:t>Multi-Signature Authentication </a:t>
            </a:r>
            <a:r>
              <a:rPr lang="en-US" sz="8400" b="1" kern="0" spc="-210" dirty="0">
                <a:solidFill>
                  <a:srgbClr val="42B8EF"/>
                </a:solidFill>
                <a:latin typeface="Arial" pitchFamily="34" charset="0"/>
                <a:ea typeface="Arial" pitchFamily="34" charset="-122"/>
                <a:cs typeface="Arial" pitchFamily="34" charset="-120"/>
              </a:rPr>
              <a:t>Web Proxy</a:t>
            </a:r>
            <a:endParaRPr lang="en-US" sz="8400" dirty="0"/>
          </a:p>
        </p:txBody>
      </p:sp>
      <p:sp>
        <p:nvSpPr>
          <p:cNvPr id="5" name="Text 3"/>
          <p:cNvSpPr/>
          <p:nvPr/>
        </p:nvSpPr>
        <p:spPr>
          <a:xfrm>
            <a:off x="1066800" y="6190138"/>
            <a:ext cx="5650992" cy="922020"/>
          </a:xfrm>
          <a:prstGeom prst="rect">
            <a:avLst/>
          </a:prstGeom>
          <a:noFill/>
          <a:ln/>
        </p:spPr>
        <p:txBody>
          <a:bodyPr wrap="square" lIns="25400" tIns="25400" rIns="25400" bIns="25400" rtlCol="0" anchor="t">
            <a:normAutofit/>
          </a:bodyPr>
          <a:lstStyle/>
          <a:p>
            <a:pPr marL="0" indent="0" algn="l">
              <a:lnSpc>
                <a:spcPct val="145000"/>
              </a:lnSpc>
              <a:buNone/>
            </a:pPr>
            <a:r>
              <a:rPr lang="en-US" sz="2400" dirty="0">
                <a:solidFill>
                  <a:srgbClr val="A5ACB2"/>
                </a:solidFill>
                <a:latin typeface="IBM Plex Sans" pitchFamily="34" charset="0"/>
                <a:ea typeface="IBM Plex Sans" pitchFamily="34" charset="-122"/>
                <a:cs typeface="IBM Plex Sans" pitchFamily="34" charset="-120"/>
              </a:rPr>
              <a:t>Requiring more than one person to unlock what matters.</a:t>
            </a:r>
            <a:endParaRPr lang="en-US" sz="2400" dirty="0"/>
          </a:p>
        </p:txBody>
      </p:sp>
      <p:sp>
        <p:nvSpPr>
          <p:cNvPr id="6" name="Shape 4"/>
          <p:cNvSpPr/>
          <p:nvPr/>
        </p:nvSpPr>
        <p:spPr>
          <a:xfrm>
            <a:off x="1066800" y="8574405"/>
            <a:ext cx="609600" cy="609600"/>
          </a:xfrm>
          <a:prstGeom prst="ellipse">
            <a:avLst/>
          </a:prstGeom>
          <a:ln w="15240">
            <a:solidFill>
              <a:srgbClr val="69C27E"/>
            </a:solidFill>
            <a:prstDash val="solid"/>
          </a:ln>
          <a:effectLst>
            <a:outerShdw blurRad="101600" dist="50800" dir="16200000" algn="bl" rotWithShape="0">
              <a:srgbClr val="000000">
                <a:alpha val="30000"/>
              </a:srgbClr>
            </a:outerShdw>
          </a:effectLst>
        </p:spPr>
        <p:txBody>
          <a:bodyPr/>
          <a:lstStyle/>
          <a:p>
            <a:endParaRPr lang="en-US"/>
          </a:p>
        </p:txBody>
      </p:sp>
      <p:sp>
        <p:nvSpPr>
          <p:cNvPr id="7" name="Text 5"/>
          <p:cNvSpPr/>
          <p:nvPr/>
        </p:nvSpPr>
        <p:spPr>
          <a:xfrm>
            <a:off x="1082040" y="8589645"/>
            <a:ext cx="655320" cy="617220"/>
          </a:xfrm>
          <a:prstGeom prst="rect">
            <a:avLst/>
          </a:prstGeom>
          <a:noFill/>
          <a:ln/>
        </p:spPr>
        <p:txBody>
          <a:bodyPr wrap="square" lIns="25400" tIns="25400" rIns="25400" bIns="25400" rtlCol="0" anchor="ctr">
            <a:normAutofit/>
          </a:bodyPr>
          <a:lstStyle/>
          <a:p>
            <a:pPr marL="0" indent="0" algn="ctr">
              <a:buNone/>
            </a:pPr>
            <a:r>
              <a:rPr lang="en-US" sz="2100" dirty="0">
                <a:solidFill>
                  <a:srgbClr val="69C27E"/>
                </a:solidFill>
                <a:latin typeface="IBM Plex Mono" pitchFamily="34" charset="0"/>
                <a:ea typeface="IBM Plex Mono" pitchFamily="34" charset="-122"/>
                <a:cs typeface="IBM Plex Mono" pitchFamily="34" charset="-120"/>
              </a:rPr>
              <a:t>✓</a:t>
            </a:r>
            <a:endParaRPr lang="en-US" sz="2100" dirty="0"/>
          </a:p>
        </p:txBody>
      </p:sp>
      <p:sp>
        <p:nvSpPr>
          <p:cNvPr id="8" name="Shape 6"/>
          <p:cNvSpPr/>
          <p:nvPr/>
        </p:nvSpPr>
        <p:spPr>
          <a:xfrm>
            <a:off x="1847850" y="8574405"/>
            <a:ext cx="609600" cy="609600"/>
          </a:xfrm>
          <a:prstGeom prst="ellipse">
            <a:avLst/>
          </a:prstGeom>
          <a:ln w="15240">
            <a:solidFill>
              <a:srgbClr val="69C27E"/>
            </a:solidFill>
            <a:prstDash val="solid"/>
          </a:ln>
          <a:effectLst>
            <a:outerShdw blurRad="101600" dist="50800" dir="16200000" algn="bl" rotWithShape="0">
              <a:srgbClr val="000000">
                <a:alpha val="30000"/>
              </a:srgbClr>
            </a:outerShdw>
          </a:effectLst>
        </p:spPr>
        <p:txBody>
          <a:bodyPr/>
          <a:lstStyle/>
          <a:p>
            <a:endParaRPr lang="en-US"/>
          </a:p>
        </p:txBody>
      </p:sp>
      <p:sp>
        <p:nvSpPr>
          <p:cNvPr id="9" name="Text 7"/>
          <p:cNvSpPr/>
          <p:nvPr/>
        </p:nvSpPr>
        <p:spPr>
          <a:xfrm>
            <a:off x="1863090" y="8589645"/>
            <a:ext cx="655320" cy="617220"/>
          </a:xfrm>
          <a:prstGeom prst="rect">
            <a:avLst/>
          </a:prstGeom>
          <a:noFill/>
          <a:ln/>
        </p:spPr>
        <p:txBody>
          <a:bodyPr wrap="square" lIns="25400" tIns="25400" rIns="25400" bIns="25400" rtlCol="0" anchor="ctr">
            <a:normAutofit/>
          </a:bodyPr>
          <a:lstStyle/>
          <a:p>
            <a:pPr marL="0" indent="0" algn="ctr">
              <a:buNone/>
            </a:pPr>
            <a:r>
              <a:rPr lang="en-US" sz="2100" dirty="0">
                <a:solidFill>
                  <a:srgbClr val="69C27E"/>
                </a:solidFill>
                <a:latin typeface="IBM Plex Mono" pitchFamily="34" charset="0"/>
                <a:ea typeface="IBM Plex Mono" pitchFamily="34" charset="-122"/>
                <a:cs typeface="IBM Plex Mono" pitchFamily="34" charset="-120"/>
              </a:rPr>
              <a:t>✓</a:t>
            </a:r>
            <a:endParaRPr lang="en-US" sz="2100" dirty="0"/>
          </a:p>
        </p:txBody>
      </p:sp>
      <p:sp>
        <p:nvSpPr>
          <p:cNvPr id="10" name="Shape 8"/>
          <p:cNvSpPr/>
          <p:nvPr/>
        </p:nvSpPr>
        <p:spPr>
          <a:xfrm>
            <a:off x="2628900" y="8574405"/>
            <a:ext cx="609600" cy="609600"/>
          </a:xfrm>
          <a:prstGeom prst="ellipse">
            <a:avLst/>
          </a:prstGeom>
          <a:ln w="15240">
            <a:solidFill>
              <a:srgbClr val="414E5D"/>
            </a:solidFill>
            <a:prstDash val="dash"/>
          </a:ln>
        </p:spPr>
        <p:txBody>
          <a:bodyPr/>
          <a:lstStyle/>
          <a:p>
            <a:endParaRPr lang="en-US"/>
          </a:p>
        </p:txBody>
      </p:sp>
      <p:sp>
        <p:nvSpPr>
          <p:cNvPr id="11" name="Text 9"/>
          <p:cNvSpPr/>
          <p:nvPr/>
        </p:nvSpPr>
        <p:spPr>
          <a:xfrm>
            <a:off x="2644140" y="8589645"/>
            <a:ext cx="655320" cy="617220"/>
          </a:xfrm>
          <a:prstGeom prst="rect">
            <a:avLst/>
          </a:prstGeom>
          <a:noFill/>
          <a:ln/>
        </p:spPr>
        <p:txBody>
          <a:bodyPr wrap="square" lIns="25400" tIns="25400" rIns="25400" bIns="25400" rtlCol="0" anchor="ctr">
            <a:normAutofit/>
          </a:bodyPr>
          <a:lstStyle/>
          <a:p>
            <a:pPr marL="0" indent="0" algn="ctr">
              <a:buNone/>
            </a:pPr>
            <a:r>
              <a:rPr lang="en-US" sz="2100" dirty="0">
                <a:solidFill>
                  <a:srgbClr val="7A8188"/>
                </a:solidFill>
                <a:latin typeface="IBM Plex Mono" pitchFamily="34" charset="0"/>
                <a:ea typeface="IBM Plex Mono" pitchFamily="34" charset="-122"/>
                <a:cs typeface="IBM Plex Mono" pitchFamily="34" charset="-120"/>
              </a:rPr>
              <a:t>3</a:t>
            </a:r>
            <a:endParaRPr lang="en-US" sz="2100" dirty="0"/>
          </a:p>
        </p:txBody>
      </p:sp>
      <p:sp>
        <p:nvSpPr>
          <p:cNvPr id="12" name="Text 10"/>
          <p:cNvSpPr/>
          <p:nvPr/>
        </p:nvSpPr>
        <p:spPr>
          <a:xfrm>
            <a:off x="3486150" y="8730615"/>
            <a:ext cx="172212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7A8188"/>
                </a:solidFill>
                <a:latin typeface="IBM Plex Mono" pitchFamily="34" charset="0"/>
                <a:ea typeface="IBM Plex Mono" pitchFamily="34" charset="-122"/>
                <a:cs typeface="IBM Plex Mono" pitchFamily="34" charset="-120"/>
              </a:rPr>
              <a:t>quorum 2 / 3</a:t>
            </a:r>
            <a:endParaRPr lang="en-US" sz="1800" dirty="0"/>
          </a:p>
        </p:txBody>
      </p:sp>
      <p:sp>
        <p:nvSpPr>
          <p:cNvPr id="13" name="Text 11"/>
          <p:cNvSpPr/>
          <p:nvPr/>
        </p:nvSpPr>
        <p:spPr>
          <a:xfrm>
            <a:off x="1066800" y="9532620"/>
            <a:ext cx="1539875"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Ian Barish</a:t>
            </a:r>
            <a:endParaRPr lang="en-US" sz="1800" dirty="0"/>
          </a:p>
        </p:txBody>
      </p:sp>
      <p:sp>
        <p:nvSpPr>
          <p:cNvPr id="14" name="Text 12"/>
          <p:cNvSpPr/>
          <p:nvPr/>
        </p:nvSpPr>
        <p:spPr>
          <a:xfrm>
            <a:off x="15464790" y="9532620"/>
            <a:ext cx="1832610" cy="335280"/>
          </a:xfrm>
          <a:prstGeom prst="rect">
            <a:avLst/>
          </a:prstGeom>
          <a:noFill/>
          <a:ln/>
        </p:spPr>
        <p:txBody>
          <a:bodyPr wrap="square" lIns="25400" tIns="25400" rIns="25400" bIns="25400" rtlCol="0" anchor="t">
            <a:normAutofit fontScale="85000" lnSpcReduction="10000"/>
          </a:bodyPr>
          <a:lstStyle/>
          <a:p>
            <a:pPr marL="0" indent="0" algn="l">
              <a:buNone/>
            </a:pPr>
            <a:r>
              <a:rPr lang="en-US" kern="0" spc="72">
                <a:solidFill>
                  <a:srgbClr val="7A8188"/>
                </a:solidFill>
                <a:latin typeface="IBM Plex Mono" pitchFamily="34" charset="0"/>
                <a:ea typeface="IBM Plex Mono" pitchFamily="34" charset="-122"/>
                <a:cs typeface="IBM Plex Mono" pitchFamily="34" charset="-120"/>
              </a:rPr>
              <a:t>June 02</a:t>
            </a:r>
            <a:r>
              <a:rPr lang="en-US" sz="1800" kern="0" spc="72">
                <a:solidFill>
                  <a:srgbClr val="7A8188"/>
                </a:solidFill>
                <a:latin typeface="IBM Plex Mono" pitchFamily="34" charset="0"/>
                <a:ea typeface="IBM Plex Mono" pitchFamily="34" charset="-122"/>
                <a:cs typeface="IBM Plex Mono" pitchFamily="34" charset="-120"/>
              </a:rPr>
              <a:t>, </a:t>
            </a:r>
            <a:r>
              <a:rPr lang="en-US" sz="1800" kern="0" spc="72" dirty="0">
                <a:solidFill>
                  <a:srgbClr val="7A8188"/>
                </a:solidFill>
                <a:latin typeface="IBM Plex Mono" pitchFamily="34" charset="0"/>
                <a:ea typeface="IBM Plex Mono" pitchFamily="34" charset="-122"/>
                <a:cs typeface="IBM Plex Mono" pitchFamily="34" charset="-120"/>
              </a:rPr>
              <a:t>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923"/>
        </a:solidFill>
        <a:effectLst/>
      </p:bgPr>
    </p:bg>
    <p:spTree>
      <p:nvGrpSpPr>
        <p:cNvPr id="1" name=""/>
        <p:cNvGrpSpPr/>
        <p:nvPr/>
      </p:nvGrpSpPr>
      <p:grpSpPr>
        <a:xfrm>
          <a:off x="0" y="0"/>
          <a:ext cx="0" cy="0"/>
          <a:chOff x="0" y="0"/>
          <a:chExt cx="0" cy="0"/>
        </a:xfrm>
      </p:grpSpPr>
      <p:sp>
        <p:nvSpPr>
          <p:cNvPr id="2" name="Text 0"/>
          <p:cNvSpPr/>
          <p:nvPr/>
        </p:nvSpPr>
        <p:spPr>
          <a:xfrm>
            <a:off x="1066800" y="914400"/>
            <a:ext cx="16639032"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42B8EF"/>
                </a:solidFill>
                <a:latin typeface="IBM Plex Mono" pitchFamily="34" charset="0"/>
                <a:ea typeface="IBM Plex Mono" pitchFamily="34" charset="-122"/>
                <a:cs typeface="IBM Plex Mono" pitchFamily="34" charset="-120"/>
              </a:rPr>
              <a:t>THE PRECEDENT</a:t>
            </a:r>
            <a:endParaRPr lang="en-US" sz="1800" dirty="0"/>
          </a:p>
        </p:txBody>
      </p:sp>
      <p:sp>
        <p:nvSpPr>
          <p:cNvPr id="3" name="Text 1"/>
          <p:cNvSpPr/>
          <p:nvPr/>
        </p:nvSpPr>
        <p:spPr>
          <a:xfrm>
            <a:off x="1066800" y="2864485"/>
            <a:ext cx="7110505" cy="2653030"/>
          </a:xfrm>
          <a:prstGeom prst="rect">
            <a:avLst/>
          </a:prstGeom>
          <a:noFill/>
          <a:ln/>
        </p:spPr>
        <p:txBody>
          <a:bodyPr wrap="square" lIns="25400" tIns="25400" rIns="25400" bIns="25400" rtlCol="0" anchor="t">
            <a:normAutofit/>
          </a:bodyPr>
          <a:lstStyle/>
          <a:p>
            <a:pPr marL="0" indent="0" algn="l">
              <a:lnSpc>
                <a:spcPct val="103990"/>
              </a:lnSpc>
              <a:buNone/>
            </a:pPr>
            <a:r>
              <a:rPr lang="en-US" sz="4950" b="1" kern="0" spc="-74" dirty="0">
                <a:solidFill>
                  <a:srgbClr val="EFF2F5"/>
                </a:solidFill>
                <a:latin typeface="Space Grotesk" pitchFamily="34" charset="0"/>
                <a:ea typeface="Space Grotesk" pitchFamily="34" charset="-122"/>
                <a:cs typeface="Space Grotesk" pitchFamily="34" charset="-120"/>
              </a:rPr>
              <a:t>Crypto wallets already solved this. To move funds, </a:t>
            </a:r>
            <a:r>
              <a:rPr lang="en-US" sz="4950" b="1" kern="0" spc="-74" dirty="0">
                <a:solidFill>
                  <a:srgbClr val="69C27E"/>
                </a:solidFill>
                <a:latin typeface="Space Grotesk" pitchFamily="34" charset="0"/>
                <a:ea typeface="Space Grotesk" pitchFamily="34" charset="-122"/>
                <a:cs typeface="Space Grotesk" pitchFamily="34" charset="-120"/>
              </a:rPr>
              <a:t>two of three keys </a:t>
            </a:r>
            <a:r>
              <a:rPr lang="en-US" sz="4950" b="1" kern="0" spc="-74" dirty="0">
                <a:solidFill>
                  <a:srgbClr val="EFF2F5"/>
                </a:solidFill>
                <a:latin typeface="Space Grotesk" pitchFamily="34" charset="0"/>
                <a:ea typeface="Space Grotesk" pitchFamily="34" charset="-122"/>
                <a:cs typeface="Space Grotesk" pitchFamily="34" charset="-120"/>
              </a:rPr>
              <a:t>must sign.</a:t>
            </a:r>
            <a:endParaRPr lang="en-US" sz="4950" dirty="0"/>
          </a:p>
        </p:txBody>
      </p:sp>
      <p:sp>
        <p:nvSpPr>
          <p:cNvPr id="4" name="Text 2"/>
          <p:cNvSpPr/>
          <p:nvPr/>
        </p:nvSpPr>
        <p:spPr>
          <a:xfrm>
            <a:off x="1066800" y="5860732"/>
            <a:ext cx="7534656" cy="1363980"/>
          </a:xfrm>
          <a:prstGeom prst="rect">
            <a:avLst/>
          </a:prstGeom>
          <a:noFill/>
          <a:ln/>
        </p:spPr>
        <p:txBody>
          <a:bodyPr wrap="square" lIns="25400" tIns="25400" rIns="25400" bIns="25400" rtlCol="0" anchor="t">
            <a:normAutofit/>
          </a:bodyPr>
          <a:lstStyle/>
          <a:p>
            <a:pPr marL="0" indent="0" algn="l">
              <a:lnSpc>
                <a:spcPct val="145000"/>
              </a:lnSpc>
              <a:buNone/>
            </a:pPr>
            <a:r>
              <a:rPr lang="en-US" sz="2400" dirty="0">
                <a:solidFill>
                  <a:srgbClr val="A5ACB2"/>
                </a:solidFill>
                <a:latin typeface="IBM Plex Sans" pitchFamily="34" charset="0"/>
                <a:ea typeface="IBM Plex Sans" pitchFamily="34" charset="-122"/>
                <a:cs typeface="IBM Plex Sans" pitchFamily="34" charset="-120"/>
              </a:rPr>
              <a:t>No single person can send a transaction alone. The group agrees first — security comes from cooperation, not from trusting one individual.</a:t>
            </a:r>
            <a:endParaRPr lang="en-US" sz="2400" dirty="0"/>
          </a:p>
        </p:txBody>
      </p:sp>
      <p:sp>
        <p:nvSpPr>
          <p:cNvPr id="5" name="Shape 3"/>
          <p:cNvSpPr/>
          <p:nvPr/>
        </p:nvSpPr>
        <p:spPr>
          <a:xfrm>
            <a:off x="1066800" y="8841105"/>
            <a:ext cx="609600" cy="609600"/>
          </a:xfrm>
          <a:prstGeom prst="ellipse">
            <a:avLst/>
          </a:prstGeom>
          <a:ln w="15240">
            <a:solidFill>
              <a:srgbClr val="69C27E"/>
            </a:solidFill>
            <a:prstDash val="solid"/>
          </a:ln>
          <a:effectLst>
            <a:outerShdw blurRad="101600" dist="50800" dir="16200000" algn="bl" rotWithShape="0">
              <a:srgbClr val="000000">
                <a:alpha val="30000"/>
              </a:srgbClr>
            </a:outerShdw>
          </a:effectLst>
        </p:spPr>
        <p:txBody>
          <a:bodyPr/>
          <a:lstStyle/>
          <a:p>
            <a:endParaRPr lang="en-US"/>
          </a:p>
        </p:txBody>
      </p:sp>
      <p:sp>
        <p:nvSpPr>
          <p:cNvPr id="6" name="Text 4"/>
          <p:cNvSpPr/>
          <p:nvPr/>
        </p:nvSpPr>
        <p:spPr>
          <a:xfrm>
            <a:off x="1082040" y="8856345"/>
            <a:ext cx="655320" cy="617220"/>
          </a:xfrm>
          <a:prstGeom prst="rect">
            <a:avLst/>
          </a:prstGeom>
          <a:noFill/>
          <a:ln/>
        </p:spPr>
        <p:txBody>
          <a:bodyPr wrap="square" lIns="25400" tIns="25400" rIns="25400" bIns="25400" rtlCol="0" anchor="t">
            <a:normAutofit/>
          </a:bodyPr>
          <a:lstStyle/>
          <a:p>
            <a:pPr marL="0" indent="0" algn="l">
              <a:buNone/>
            </a:pPr>
            <a:r>
              <a:rPr lang="en-US" sz="2100" dirty="0">
                <a:solidFill>
                  <a:srgbClr val="69C27E"/>
                </a:solidFill>
                <a:latin typeface="IBM Plex Mono" pitchFamily="34" charset="0"/>
                <a:ea typeface="IBM Plex Mono" pitchFamily="34" charset="-122"/>
                <a:cs typeface="IBM Plex Mono" pitchFamily="34" charset="-120"/>
              </a:rPr>
              <a:t>✓</a:t>
            </a:r>
            <a:endParaRPr lang="en-US" sz="2100" dirty="0"/>
          </a:p>
        </p:txBody>
      </p:sp>
      <p:sp>
        <p:nvSpPr>
          <p:cNvPr id="7" name="Text 5"/>
          <p:cNvSpPr/>
          <p:nvPr/>
        </p:nvSpPr>
        <p:spPr>
          <a:xfrm>
            <a:off x="1847850" y="8963025"/>
            <a:ext cx="247650" cy="403860"/>
          </a:xfrm>
          <a:prstGeom prst="rect">
            <a:avLst/>
          </a:prstGeom>
          <a:noFill/>
          <a:ln/>
        </p:spPr>
        <p:txBody>
          <a:bodyPr wrap="square" lIns="25400" tIns="25400" rIns="25400" bIns="25400" rtlCol="0" anchor="t">
            <a:normAutofit/>
          </a:bodyPr>
          <a:lstStyle/>
          <a:p>
            <a:pPr marL="0" indent="0" algn="l">
              <a:buNone/>
            </a:pPr>
            <a:r>
              <a:rPr lang="en-US" sz="2250" dirty="0">
                <a:solidFill>
                  <a:srgbClr val="7A8188"/>
                </a:solidFill>
                <a:latin typeface="IBM Plex Mono" pitchFamily="34" charset="0"/>
                <a:ea typeface="IBM Plex Mono" pitchFamily="34" charset="-122"/>
                <a:cs typeface="IBM Plex Mono" pitchFamily="34" charset="-120"/>
              </a:rPr>
              <a:t>+</a:t>
            </a:r>
            <a:endParaRPr lang="en-US" sz="2250" dirty="0"/>
          </a:p>
        </p:txBody>
      </p:sp>
      <p:sp>
        <p:nvSpPr>
          <p:cNvPr id="8" name="Shape 6"/>
          <p:cNvSpPr/>
          <p:nvPr/>
        </p:nvSpPr>
        <p:spPr>
          <a:xfrm>
            <a:off x="2190750" y="8841105"/>
            <a:ext cx="609600" cy="609600"/>
          </a:xfrm>
          <a:prstGeom prst="ellipse">
            <a:avLst/>
          </a:prstGeom>
          <a:ln w="15240">
            <a:solidFill>
              <a:srgbClr val="69C27E"/>
            </a:solidFill>
            <a:prstDash val="solid"/>
          </a:ln>
          <a:effectLst>
            <a:outerShdw blurRad="101600" dist="50800" dir="16200000" algn="bl" rotWithShape="0">
              <a:srgbClr val="000000">
                <a:alpha val="30000"/>
              </a:srgbClr>
            </a:outerShdw>
          </a:effectLst>
        </p:spPr>
        <p:txBody>
          <a:bodyPr/>
          <a:lstStyle/>
          <a:p>
            <a:endParaRPr lang="en-US"/>
          </a:p>
        </p:txBody>
      </p:sp>
      <p:sp>
        <p:nvSpPr>
          <p:cNvPr id="9" name="Text 7"/>
          <p:cNvSpPr/>
          <p:nvPr/>
        </p:nvSpPr>
        <p:spPr>
          <a:xfrm>
            <a:off x="2205990" y="8856345"/>
            <a:ext cx="655320" cy="617220"/>
          </a:xfrm>
          <a:prstGeom prst="rect">
            <a:avLst/>
          </a:prstGeom>
          <a:noFill/>
          <a:ln/>
        </p:spPr>
        <p:txBody>
          <a:bodyPr wrap="square" lIns="25400" tIns="25400" rIns="25400" bIns="25400" rtlCol="0" anchor="t">
            <a:normAutofit/>
          </a:bodyPr>
          <a:lstStyle/>
          <a:p>
            <a:pPr marL="0" indent="0" algn="l">
              <a:buNone/>
            </a:pPr>
            <a:r>
              <a:rPr lang="en-US" sz="2100" dirty="0">
                <a:solidFill>
                  <a:srgbClr val="69C27E"/>
                </a:solidFill>
                <a:latin typeface="IBM Plex Mono" pitchFamily="34" charset="0"/>
                <a:ea typeface="IBM Plex Mono" pitchFamily="34" charset="-122"/>
                <a:cs typeface="IBM Plex Mono" pitchFamily="34" charset="-120"/>
              </a:rPr>
              <a:t>✓</a:t>
            </a:r>
            <a:endParaRPr lang="en-US" sz="2100" dirty="0"/>
          </a:p>
        </p:txBody>
      </p:sp>
      <p:sp>
        <p:nvSpPr>
          <p:cNvPr id="10" name="Text 8"/>
          <p:cNvSpPr/>
          <p:nvPr/>
        </p:nvSpPr>
        <p:spPr>
          <a:xfrm>
            <a:off x="2971800" y="8963025"/>
            <a:ext cx="247650" cy="403860"/>
          </a:xfrm>
          <a:prstGeom prst="rect">
            <a:avLst/>
          </a:prstGeom>
          <a:noFill/>
          <a:ln/>
        </p:spPr>
        <p:txBody>
          <a:bodyPr wrap="square" lIns="25400" tIns="25400" rIns="25400" bIns="25400" rtlCol="0" anchor="t">
            <a:normAutofit/>
          </a:bodyPr>
          <a:lstStyle/>
          <a:p>
            <a:pPr marL="0" indent="0" algn="l">
              <a:buNone/>
            </a:pPr>
            <a:r>
              <a:rPr lang="en-US" sz="2250" dirty="0">
                <a:solidFill>
                  <a:srgbClr val="7A8188"/>
                </a:solidFill>
                <a:latin typeface="IBM Plex Mono" pitchFamily="34" charset="0"/>
                <a:ea typeface="IBM Plex Mono" pitchFamily="34" charset="-122"/>
                <a:cs typeface="IBM Plex Mono" pitchFamily="34" charset="-120"/>
              </a:rPr>
              <a:t>=</a:t>
            </a:r>
            <a:endParaRPr lang="en-US" sz="2250" dirty="0"/>
          </a:p>
        </p:txBody>
      </p:sp>
      <p:sp>
        <p:nvSpPr>
          <p:cNvPr id="11" name="Shape 9"/>
          <p:cNvSpPr/>
          <p:nvPr/>
        </p:nvSpPr>
        <p:spPr>
          <a:xfrm>
            <a:off x="3314700" y="8841105"/>
            <a:ext cx="3162300" cy="609600"/>
          </a:xfrm>
          <a:prstGeom prst="roundRect">
            <a:avLst>
              <a:gd name="adj" fmla="val 50000"/>
            </a:avLst>
          </a:prstGeom>
          <a:ln w="15240">
            <a:solidFill>
              <a:srgbClr val="69C27E"/>
            </a:solidFill>
            <a:prstDash val="solid"/>
          </a:ln>
        </p:spPr>
        <p:txBody>
          <a:bodyPr/>
          <a:lstStyle/>
          <a:p>
            <a:endParaRPr lang="en-US"/>
          </a:p>
        </p:txBody>
      </p:sp>
      <p:sp>
        <p:nvSpPr>
          <p:cNvPr id="12" name="Text 10"/>
          <p:cNvSpPr/>
          <p:nvPr/>
        </p:nvSpPr>
        <p:spPr>
          <a:xfrm>
            <a:off x="3615690" y="8856345"/>
            <a:ext cx="2655189" cy="617220"/>
          </a:xfrm>
          <a:prstGeom prst="rect">
            <a:avLst/>
          </a:prstGeom>
          <a:noFill/>
          <a:ln/>
        </p:spPr>
        <p:txBody>
          <a:bodyPr wrap="square" lIns="25400" tIns="25400" rIns="25400" bIns="25400" rtlCol="0" anchor="t">
            <a:normAutofit/>
          </a:bodyPr>
          <a:lstStyle/>
          <a:p>
            <a:pPr marL="0" indent="0" algn="l">
              <a:buNone/>
            </a:pPr>
            <a:r>
              <a:rPr lang="en-US" sz="2100" dirty="0">
                <a:solidFill>
                  <a:srgbClr val="69C27E"/>
                </a:solidFill>
                <a:latin typeface="IBM Plex Mono" pitchFamily="34" charset="0"/>
                <a:ea typeface="IBM Plex Mono" pitchFamily="34" charset="-122"/>
                <a:cs typeface="IBM Plex Mono" pitchFamily="34" charset="-120"/>
              </a:rPr>
              <a:t>transaction sent</a:t>
            </a:r>
            <a:endParaRPr lang="en-US" sz="2100" dirty="0"/>
          </a:p>
        </p:txBody>
      </p:sp>
      <p:sp>
        <p:nvSpPr>
          <p:cNvPr id="13" name="Text 11"/>
          <p:cNvSpPr/>
          <p:nvPr/>
        </p:nvSpPr>
        <p:spPr>
          <a:xfrm>
            <a:off x="1066800" y="9532620"/>
            <a:ext cx="6030341"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Multi-Signature Authentication Web Proxy</a:t>
            </a:r>
            <a:endParaRPr lang="en-US" sz="1800" dirty="0"/>
          </a:p>
        </p:txBody>
      </p:sp>
      <p:sp>
        <p:nvSpPr>
          <p:cNvPr id="14" name="Text 12"/>
          <p:cNvSpPr/>
          <p:nvPr/>
        </p:nvSpPr>
        <p:spPr>
          <a:xfrm>
            <a:off x="16928464" y="9532620"/>
            <a:ext cx="368935"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02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70E16"/>
          </a:solidFill>
          <a:ln/>
        </p:spPr>
        <p:txBody>
          <a:bodyPr/>
          <a:lstStyle/>
          <a:p>
            <a:endParaRPr lang="en-US"/>
          </a:p>
        </p:txBody>
      </p:sp>
      <p:sp>
        <p:nvSpPr>
          <p:cNvPr id="3" name="Text 1"/>
          <p:cNvSpPr/>
          <p:nvPr/>
        </p:nvSpPr>
        <p:spPr>
          <a:xfrm>
            <a:off x="1066800" y="914400"/>
            <a:ext cx="16639032"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42B8EF"/>
                </a:solidFill>
                <a:latin typeface="IBM Plex Mono" pitchFamily="34" charset="0"/>
                <a:ea typeface="IBM Plex Mono" pitchFamily="34" charset="-122"/>
                <a:cs typeface="IBM Plex Mono" pitchFamily="34" charset="-120"/>
              </a:rPr>
              <a:t>THE GAP</a:t>
            </a:r>
            <a:endParaRPr lang="en-US" sz="1800" dirty="0"/>
          </a:p>
        </p:txBody>
      </p:sp>
      <p:sp>
        <p:nvSpPr>
          <p:cNvPr id="4" name="Text 2"/>
          <p:cNvSpPr/>
          <p:nvPr/>
        </p:nvSpPr>
        <p:spPr>
          <a:xfrm>
            <a:off x="1066800" y="3463607"/>
            <a:ext cx="10495541" cy="1755775"/>
          </a:xfrm>
          <a:prstGeom prst="rect">
            <a:avLst/>
          </a:prstGeom>
          <a:noFill/>
          <a:ln/>
        </p:spPr>
        <p:txBody>
          <a:bodyPr wrap="square" lIns="25400" tIns="25400" rIns="25400" bIns="25400" rtlCol="0" anchor="t">
            <a:normAutofit/>
          </a:bodyPr>
          <a:lstStyle/>
          <a:p>
            <a:pPr marL="0" indent="0" algn="l">
              <a:lnSpc>
                <a:spcPct val="98007"/>
              </a:lnSpc>
              <a:buNone/>
            </a:pPr>
            <a:r>
              <a:rPr lang="en-US" sz="6900" b="1" kern="0" spc="-172" dirty="0">
                <a:solidFill>
                  <a:srgbClr val="EFF2F5"/>
                </a:solidFill>
                <a:latin typeface="Space Grotesk" pitchFamily="34" charset="0"/>
                <a:ea typeface="Space Grotesk" pitchFamily="34" charset="-122"/>
                <a:cs typeface="Space Grotesk" pitchFamily="34" charset="-120"/>
              </a:rPr>
              <a:t>Web logins still trust </a:t>
            </a:r>
            <a:r>
              <a:rPr lang="en-US" sz="6900" b="1" kern="0" spc="-172" dirty="0">
                <a:solidFill>
                  <a:srgbClr val="42B8EF"/>
                </a:solidFill>
                <a:latin typeface="Space Grotesk" pitchFamily="34" charset="0"/>
                <a:ea typeface="Space Grotesk" pitchFamily="34" charset="-122"/>
                <a:cs typeface="Space Grotesk" pitchFamily="34" charset="-120"/>
              </a:rPr>
              <a:t>one person</a:t>
            </a:r>
            <a:r>
              <a:rPr lang="en-US" sz="6900" b="1" kern="0" spc="-172" dirty="0">
                <a:solidFill>
                  <a:srgbClr val="EFF2F5"/>
                </a:solidFill>
                <a:latin typeface="Space Grotesk" pitchFamily="34" charset="0"/>
                <a:ea typeface="Space Grotesk" pitchFamily="34" charset="-122"/>
                <a:cs typeface="Space Grotesk" pitchFamily="34" charset="-120"/>
              </a:rPr>
              <a:t>.</a:t>
            </a:r>
            <a:endParaRPr lang="en-US" sz="6900" dirty="0"/>
          </a:p>
        </p:txBody>
      </p:sp>
      <p:sp>
        <p:nvSpPr>
          <p:cNvPr id="5" name="Text 3"/>
          <p:cNvSpPr/>
          <p:nvPr/>
        </p:nvSpPr>
        <p:spPr>
          <a:xfrm>
            <a:off x="1066800" y="5562600"/>
            <a:ext cx="7205015" cy="1375410"/>
          </a:xfrm>
          <a:prstGeom prst="rect">
            <a:avLst/>
          </a:prstGeom>
          <a:noFill/>
          <a:ln/>
        </p:spPr>
        <p:txBody>
          <a:bodyPr wrap="square" lIns="25400" tIns="25400" rIns="25400" bIns="25400" rtlCol="0" anchor="t">
            <a:normAutofit/>
          </a:bodyPr>
          <a:lstStyle/>
          <a:p>
            <a:pPr marL="0" indent="0" algn="l">
              <a:lnSpc>
                <a:spcPct val="130000"/>
              </a:lnSpc>
              <a:buNone/>
            </a:pPr>
            <a:r>
              <a:rPr lang="en-US" sz="2700" dirty="0">
                <a:solidFill>
                  <a:srgbClr val="A5ACB2"/>
                </a:solidFill>
                <a:latin typeface="IBM Plex Sans" pitchFamily="34" charset="0"/>
                <a:ea typeface="IBM Plex Sans" pitchFamily="34" charset="-122"/>
                <a:cs typeface="IBM Plex Sans" pitchFamily="34" charset="-120"/>
              </a:rPr>
              <a:t>Duo and Authelia prove who </a:t>
            </a:r>
            <a:r>
              <a:rPr lang="en-US" sz="2700" i="1" dirty="0">
                <a:solidFill>
                  <a:srgbClr val="A5ACB2"/>
                </a:solidFill>
                <a:latin typeface="IBM Plex Sans" pitchFamily="34" charset="0"/>
                <a:ea typeface="IBM Plex Sans" pitchFamily="34" charset="-122"/>
                <a:cs typeface="IBM Plex Sans" pitchFamily="34" charset="-120"/>
              </a:rPr>
              <a:t>you </a:t>
            </a:r>
            <a:r>
              <a:rPr lang="en-US" sz="2700" dirty="0">
                <a:solidFill>
                  <a:srgbClr val="A5ACB2"/>
                </a:solidFill>
                <a:latin typeface="IBM Plex Sans" pitchFamily="34" charset="0"/>
                <a:ea typeface="IBM Plex Sans" pitchFamily="34" charset="-122"/>
                <a:cs typeface="IBM Plex Sans" pitchFamily="34" charset="-120"/>
              </a:rPr>
              <a:t>are. None of them require several distinct people to cooperate before granting access.</a:t>
            </a:r>
            <a:endParaRPr lang="en-US" sz="2700" dirty="0"/>
          </a:p>
        </p:txBody>
      </p:sp>
      <p:sp>
        <p:nvSpPr>
          <p:cNvPr id="6" name="Text 4"/>
          <p:cNvSpPr/>
          <p:nvPr/>
        </p:nvSpPr>
        <p:spPr>
          <a:xfrm>
            <a:off x="1066800" y="9153525"/>
            <a:ext cx="2259330" cy="335280"/>
          </a:xfrm>
          <a:prstGeom prst="rect">
            <a:avLst/>
          </a:prstGeom>
          <a:noFill/>
          <a:ln/>
        </p:spPr>
        <p:txBody>
          <a:bodyPr wrap="square" lIns="25400" tIns="25400" rIns="25400" bIns="25400" rtlCol="0" anchor="t">
            <a:normAutofit/>
          </a:bodyPr>
          <a:lstStyle/>
          <a:p>
            <a:pPr marL="0" indent="0" algn="l">
              <a:buNone/>
            </a:pPr>
            <a:r>
              <a:rPr lang="en-US" sz="1800" dirty="0">
                <a:solidFill>
                  <a:srgbClr val="7A8188"/>
                </a:solidFill>
                <a:latin typeface="IBM Plex Mono" pitchFamily="34" charset="0"/>
                <a:ea typeface="IBM Plex Mono" pitchFamily="34" charset="-122"/>
                <a:cs typeface="IBM Plex Mono" pitchFamily="34" charset="-120"/>
              </a:rPr>
              <a:t>Duo → 1 identity</a:t>
            </a:r>
            <a:endParaRPr lang="en-US" sz="1800" dirty="0"/>
          </a:p>
        </p:txBody>
      </p:sp>
      <p:sp>
        <p:nvSpPr>
          <p:cNvPr id="7" name="Text 5"/>
          <p:cNvSpPr/>
          <p:nvPr/>
        </p:nvSpPr>
        <p:spPr>
          <a:xfrm>
            <a:off x="3630930" y="9153525"/>
            <a:ext cx="2954998" cy="335280"/>
          </a:xfrm>
          <a:prstGeom prst="rect">
            <a:avLst/>
          </a:prstGeom>
          <a:noFill/>
          <a:ln/>
        </p:spPr>
        <p:txBody>
          <a:bodyPr wrap="square" lIns="25400" tIns="25400" rIns="25400" bIns="25400" rtlCol="0" anchor="t">
            <a:normAutofit/>
          </a:bodyPr>
          <a:lstStyle/>
          <a:p>
            <a:pPr marL="0" indent="0" algn="l">
              <a:buNone/>
            </a:pPr>
            <a:r>
              <a:rPr lang="en-US" sz="1800" dirty="0">
                <a:solidFill>
                  <a:srgbClr val="7A8188"/>
                </a:solidFill>
                <a:latin typeface="IBM Plex Mono" pitchFamily="34" charset="0"/>
                <a:ea typeface="IBM Plex Mono" pitchFamily="34" charset="-122"/>
                <a:cs typeface="IBM Plex Mono" pitchFamily="34" charset="-120"/>
              </a:rPr>
              <a:t>Authelia → 1 identity</a:t>
            </a:r>
            <a:endParaRPr lang="en-US" sz="1800" dirty="0"/>
          </a:p>
        </p:txBody>
      </p:sp>
      <p:sp>
        <p:nvSpPr>
          <p:cNvPr id="8" name="Text 6"/>
          <p:cNvSpPr/>
          <p:nvPr/>
        </p:nvSpPr>
        <p:spPr>
          <a:xfrm>
            <a:off x="6880860" y="9153525"/>
            <a:ext cx="4650296" cy="335280"/>
          </a:xfrm>
          <a:prstGeom prst="rect">
            <a:avLst/>
          </a:prstGeom>
          <a:noFill/>
          <a:ln/>
        </p:spPr>
        <p:txBody>
          <a:bodyPr wrap="square" lIns="25400" tIns="25400" rIns="25400" bIns="25400" rtlCol="0" anchor="t">
            <a:normAutofit/>
          </a:bodyPr>
          <a:lstStyle/>
          <a:p>
            <a:pPr marL="0" indent="0" algn="l">
              <a:buNone/>
            </a:pPr>
            <a:r>
              <a:rPr lang="en-US" sz="1800" dirty="0">
                <a:solidFill>
                  <a:srgbClr val="69C27E"/>
                </a:solidFill>
                <a:latin typeface="IBM Plex Mono" pitchFamily="34" charset="0"/>
                <a:ea typeface="IBM Plex Mono" pitchFamily="34" charset="-122"/>
                <a:cs typeface="IBM Plex Mono" pitchFamily="34" charset="-120"/>
              </a:rPr>
              <a:t>This project → a quorum of people</a:t>
            </a:r>
            <a:endParaRPr lang="en-US" sz="1800" dirty="0"/>
          </a:p>
        </p:txBody>
      </p:sp>
      <p:sp>
        <p:nvSpPr>
          <p:cNvPr id="9" name="Text 7"/>
          <p:cNvSpPr/>
          <p:nvPr/>
        </p:nvSpPr>
        <p:spPr>
          <a:xfrm>
            <a:off x="1066800" y="9532620"/>
            <a:ext cx="6030341"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Multi-Signature Authentication Web Proxy</a:t>
            </a:r>
            <a:endParaRPr lang="en-US" sz="1800" dirty="0"/>
          </a:p>
        </p:txBody>
      </p:sp>
      <p:sp>
        <p:nvSpPr>
          <p:cNvPr id="10" name="Text 8"/>
          <p:cNvSpPr/>
          <p:nvPr/>
        </p:nvSpPr>
        <p:spPr>
          <a:xfrm>
            <a:off x="16928464" y="9532620"/>
            <a:ext cx="368935"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03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923"/>
        </a:solidFill>
        <a:effectLst/>
      </p:bgPr>
    </p:bg>
    <p:spTree>
      <p:nvGrpSpPr>
        <p:cNvPr id="1" name=""/>
        <p:cNvGrpSpPr/>
        <p:nvPr/>
      </p:nvGrpSpPr>
      <p:grpSpPr>
        <a:xfrm>
          <a:off x="0" y="0"/>
          <a:ext cx="0" cy="0"/>
          <a:chOff x="0" y="0"/>
          <a:chExt cx="0" cy="0"/>
        </a:xfrm>
      </p:grpSpPr>
      <p:sp>
        <p:nvSpPr>
          <p:cNvPr id="2" name="Text 0"/>
          <p:cNvSpPr/>
          <p:nvPr/>
        </p:nvSpPr>
        <p:spPr>
          <a:xfrm>
            <a:off x="1066800" y="914400"/>
            <a:ext cx="16639032"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42B8EF"/>
                </a:solidFill>
                <a:latin typeface="IBM Plex Mono" pitchFamily="34" charset="0"/>
                <a:ea typeface="IBM Plex Mono" pitchFamily="34" charset="-122"/>
                <a:cs typeface="IBM Plex Mono" pitchFamily="34" charset="-120"/>
              </a:rPr>
              <a:t>THE IDEA</a:t>
            </a:r>
            <a:endParaRPr lang="en-US" sz="1800" dirty="0"/>
          </a:p>
        </p:txBody>
      </p:sp>
      <p:sp>
        <p:nvSpPr>
          <p:cNvPr id="3" name="Text 1"/>
          <p:cNvSpPr/>
          <p:nvPr/>
        </p:nvSpPr>
        <p:spPr>
          <a:xfrm>
            <a:off x="1066800" y="2527459"/>
            <a:ext cx="10874889" cy="1999297"/>
          </a:xfrm>
          <a:prstGeom prst="rect">
            <a:avLst/>
          </a:prstGeom>
          <a:noFill/>
          <a:ln/>
        </p:spPr>
        <p:txBody>
          <a:bodyPr wrap="square" lIns="25400" tIns="25400" rIns="25400" bIns="25400" rtlCol="0" anchor="t">
            <a:normAutofit/>
          </a:bodyPr>
          <a:lstStyle/>
          <a:p>
            <a:pPr marL="0" indent="0" algn="l">
              <a:lnSpc>
                <a:spcPct val="103990"/>
              </a:lnSpc>
              <a:buNone/>
            </a:pPr>
            <a:r>
              <a:rPr lang="en-US" sz="4950" b="1" kern="0" spc="-74" dirty="0">
                <a:solidFill>
                  <a:srgbClr val="EFF2F5"/>
                </a:solidFill>
                <a:latin typeface="Space Grotesk" pitchFamily="34" charset="0"/>
                <a:ea typeface="Space Grotesk" pitchFamily="34" charset="-122"/>
                <a:cs typeface="Space Grotesk" pitchFamily="34" charset="-120"/>
              </a:rPr>
              <a:t>A web proxy that grants access </a:t>
            </a:r>
            <a:r>
              <a:rPr lang="en-US" sz="4950" b="1" kern="0" spc="-74" dirty="0">
                <a:solidFill>
                  <a:srgbClr val="42B8EF"/>
                </a:solidFill>
                <a:latin typeface="Space Grotesk" pitchFamily="34" charset="0"/>
                <a:ea typeface="Space Grotesk" pitchFamily="34" charset="-122"/>
                <a:cs typeface="Space Grotesk" pitchFamily="34" charset="-120"/>
              </a:rPr>
              <a:t>only </a:t>
            </a:r>
            <a:r>
              <a:rPr lang="en-US" sz="4950" b="1" kern="0" spc="-74" dirty="0">
                <a:solidFill>
                  <a:srgbClr val="EFF2F5"/>
                </a:solidFill>
                <a:latin typeface="Space Grotesk" pitchFamily="34" charset="0"/>
                <a:ea typeface="Space Grotesk" pitchFamily="34" charset="-122"/>
                <a:cs typeface="Space Grotesk" pitchFamily="34" charset="-120"/>
              </a:rPr>
              <a:t>when a quorum of approvers each provide their secret key.</a:t>
            </a:r>
            <a:endParaRPr lang="en-US" sz="4950" dirty="0"/>
          </a:p>
        </p:txBody>
      </p:sp>
      <p:sp>
        <p:nvSpPr>
          <p:cNvPr id="4" name="Shape 2"/>
          <p:cNvSpPr/>
          <p:nvPr/>
        </p:nvSpPr>
        <p:spPr>
          <a:xfrm>
            <a:off x="1066800" y="4946174"/>
            <a:ext cx="4572000" cy="3187065"/>
          </a:xfrm>
          <a:prstGeom prst="roundRect">
            <a:avLst>
              <a:gd name="adj" fmla="val 4184"/>
            </a:avLst>
          </a:prstGeom>
          <a:solidFill>
            <a:srgbClr val="1B2530"/>
          </a:solidFill>
          <a:ln w="7620">
            <a:solidFill>
              <a:srgbClr val="414E5D"/>
            </a:solidFill>
            <a:prstDash val="solid"/>
          </a:ln>
        </p:spPr>
        <p:txBody>
          <a:bodyPr/>
          <a:lstStyle/>
          <a:p>
            <a:endParaRPr lang="en-US"/>
          </a:p>
        </p:txBody>
      </p:sp>
      <p:sp>
        <p:nvSpPr>
          <p:cNvPr id="5" name="Text 3"/>
          <p:cNvSpPr/>
          <p:nvPr/>
        </p:nvSpPr>
        <p:spPr>
          <a:xfrm>
            <a:off x="1436370" y="5143500"/>
            <a:ext cx="3947846" cy="252412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250" dirty="0">
                <a:solidFill>
                  <a:srgbClr val="EFF2F5"/>
                </a:solidFill>
                <a:latin typeface="IBM Plex Sans" pitchFamily="34" charset="0"/>
                <a:ea typeface="IBM Plex Sans" pitchFamily="34" charset="-122"/>
                <a:cs typeface="IBM Plex Sans" pitchFamily="34" charset="-120"/>
              </a:rPr>
              <a:t>It sits in front of any resource. A request is caught, held, and released to the user </a:t>
            </a:r>
            <a:r>
              <a:rPr lang="en-US" sz="2250" dirty="0">
                <a:solidFill>
                  <a:srgbClr val="69C27E"/>
                </a:solidFill>
                <a:latin typeface="IBM Plex Sans" pitchFamily="34" charset="0"/>
                <a:ea typeface="IBM Plex Sans" pitchFamily="34" charset="-122"/>
                <a:cs typeface="IBM Plex Sans" pitchFamily="34" charset="-120"/>
              </a:rPr>
              <a:t>only after enough people sign off </a:t>
            </a:r>
            <a:r>
              <a:rPr lang="en-US" sz="2250" dirty="0">
                <a:solidFill>
                  <a:srgbClr val="EFF2F5"/>
                </a:solidFill>
                <a:latin typeface="IBM Plex Sans" pitchFamily="34" charset="0"/>
                <a:ea typeface="IBM Plex Sans" pitchFamily="34" charset="-122"/>
                <a:cs typeface="IBM Plex Sans" pitchFamily="34" charset="-120"/>
              </a:rPr>
              <a:t>— no changes required to the application behind it.</a:t>
            </a:r>
            <a:endParaRPr lang="en-US" sz="2250" dirty="0"/>
          </a:p>
        </p:txBody>
      </p:sp>
      <p:sp>
        <p:nvSpPr>
          <p:cNvPr id="6" name="Text 4"/>
          <p:cNvSpPr/>
          <p:nvPr/>
        </p:nvSpPr>
        <p:spPr>
          <a:xfrm>
            <a:off x="1066800" y="9532620"/>
            <a:ext cx="6030341"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Multi-Signature Authentication Web Proxy</a:t>
            </a:r>
            <a:endParaRPr lang="en-US" sz="1800" dirty="0"/>
          </a:p>
        </p:txBody>
      </p:sp>
      <p:sp>
        <p:nvSpPr>
          <p:cNvPr id="7" name="Text 5"/>
          <p:cNvSpPr/>
          <p:nvPr/>
        </p:nvSpPr>
        <p:spPr>
          <a:xfrm>
            <a:off x="16928464" y="9532620"/>
            <a:ext cx="368935"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04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70E16"/>
          </a:solidFill>
          <a:ln/>
        </p:spPr>
        <p:txBody>
          <a:bodyPr/>
          <a:lstStyle/>
          <a:p>
            <a:endParaRPr lang="en-US"/>
          </a:p>
        </p:txBody>
      </p:sp>
      <p:sp>
        <p:nvSpPr>
          <p:cNvPr id="3" name="Text 1"/>
          <p:cNvSpPr/>
          <p:nvPr/>
        </p:nvSpPr>
        <p:spPr>
          <a:xfrm>
            <a:off x="1066800" y="914400"/>
            <a:ext cx="16639032"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42B8EF"/>
                </a:solidFill>
                <a:latin typeface="IBM Plex Mono" pitchFamily="34" charset="0"/>
                <a:ea typeface="IBM Plex Mono" pitchFamily="34" charset="-122"/>
                <a:cs typeface="IBM Plex Mono" pitchFamily="34" charset="-120"/>
              </a:rPr>
              <a:t>WHY IT MATTERS</a:t>
            </a:r>
            <a:endParaRPr lang="en-US" sz="1800" dirty="0"/>
          </a:p>
        </p:txBody>
      </p:sp>
      <p:sp>
        <p:nvSpPr>
          <p:cNvPr id="4" name="Text 2"/>
          <p:cNvSpPr/>
          <p:nvPr/>
        </p:nvSpPr>
        <p:spPr>
          <a:xfrm>
            <a:off x="1066800" y="3172460"/>
            <a:ext cx="12168601" cy="1830388"/>
          </a:xfrm>
          <a:prstGeom prst="rect">
            <a:avLst/>
          </a:prstGeom>
          <a:noFill/>
          <a:ln/>
        </p:spPr>
        <p:txBody>
          <a:bodyPr wrap="square" lIns="25400" tIns="25400" rIns="25400" bIns="25400" rtlCol="0" anchor="t">
            <a:normAutofit/>
          </a:bodyPr>
          <a:lstStyle/>
          <a:p>
            <a:pPr marL="0" indent="0" algn="l">
              <a:lnSpc>
                <a:spcPct val="98003"/>
              </a:lnSpc>
              <a:buNone/>
            </a:pPr>
            <a:r>
              <a:rPr lang="en-US" sz="7200" b="1" kern="0" spc="-180" dirty="0">
                <a:solidFill>
                  <a:srgbClr val="EFF2F5"/>
                </a:solidFill>
                <a:latin typeface="Space Grotesk" pitchFamily="34" charset="0"/>
                <a:ea typeface="Space Grotesk" pitchFamily="34" charset="-122"/>
                <a:cs typeface="Space Grotesk" pitchFamily="34" charset="-120"/>
              </a:rPr>
              <a:t>One developer holds the </a:t>
            </a:r>
            <a:r>
              <a:rPr lang="en-US" sz="7200" b="1" kern="0" spc="-180" dirty="0">
                <a:solidFill>
                  <a:srgbClr val="42B8EF"/>
                </a:solidFill>
                <a:latin typeface="Space Grotesk" pitchFamily="34" charset="0"/>
                <a:ea typeface="Space Grotesk" pitchFamily="34" charset="-122"/>
                <a:cs typeface="Space Grotesk" pitchFamily="34" charset="-120"/>
              </a:rPr>
              <a:t>keys to the kingdom</a:t>
            </a:r>
            <a:r>
              <a:rPr lang="en-US" sz="7200" b="1" kern="0" spc="-180" dirty="0">
                <a:solidFill>
                  <a:srgbClr val="EFF2F5"/>
                </a:solidFill>
                <a:latin typeface="Space Grotesk" pitchFamily="34" charset="0"/>
                <a:ea typeface="Space Grotesk" pitchFamily="34" charset="-122"/>
                <a:cs typeface="Space Grotesk" pitchFamily="34" charset="-120"/>
              </a:rPr>
              <a:t>.</a:t>
            </a:r>
            <a:endParaRPr lang="en-US" sz="7200" dirty="0"/>
          </a:p>
        </p:txBody>
      </p:sp>
      <p:sp>
        <p:nvSpPr>
          <p:cNvPr id="5" name="Text 3"/>
          <p:cNvSpPr/>
          <p:nvPr/>
        </p:nvSpPr>
        <p:spPr>
          <a:xfrm>
            <a:off x="1066800" y="5346065"/>
            <a:ext cx="8052663" cy="1821180"/>
          </a:xfrm>
          <a:prstGeom prst="rect">
            <a:avLst/>
          </a:prstGeom>
          <a:noFill/>
          <a:ln/>
        </p:spPr>
        <p:txBody>
          <a:bodyPr wrap="square" lIns="25400" tIns="25400" rIns="25400" bIns="25400" rtlCol="0" anchor="t">
            <a:normAutofit/>
          </a:bodyPr>
          <a:lstStyle/>
          <a:p>
            <a:pPr marL="0" indent="0" algn="l">
              <a:lnSpc>
                <a:spcPct val="130000"/>
              </a:lnSpc>
              <a:buNone/>
            </a:pPr>
            <a:r>
              <a:rPr lang="en-US" sz="2700" dirty="0">
                <a:solidFill>
                  <a:srgbClr val="A5ACB2"/>
                </a:solidFill>
                <a:latin typeface="IBM Plex Sans" pitchFamily="34" charset="0"/>
                <a:ea typeface="IBM Plex Sans" pitchFamily="34" charset="-122"/>
                <a:cs typeface="IBM Plex Sans" pitchFamily="34" charset="-120"/>
              </a:rPr>
              <a:t>Supply-chain attacks on npm and PyPI keep succeeding because compromising a single account can ship malicious code to everyone downstream.</a:t>
            </a:r>
            <a:endParaRPr lang="en-US" sz="2700" dirty="0"/>
          </a:p>
        </p:txBody>
      </p:sp>
      <p:sp>
        <p:nvSpPr>
          <p:cNvPr id="6" name="Text 4"/>
          <p:cNvSpPr/>
          <p:nvPr/>
        </p:nvSpPr>
        <p:spPr>
          <a:xfrm>
            <a:off x="1066800" y="9091613"/>
            <a:ext cx="16639032" cy="397192"/>
          </a:xfrm>
          <a:prstGeom prst="rect">
            <a:avLst/>
          </a:prstGeom>
          <a:noFill/>
          <a:ln/>
        </p:spPr>
        <p:txBody>
          <a:bodyPr wrap="square" lIns="25400" tIns="25400" rIns="25400" bIns="25400" rtlCol="0" anchor="t">
            <a:normAutofit/>
          </a:bodyPr>
          <a:lstStyle/>
          <a:p>
            <a:pPr marL="0" indent="0" algn="l">
              <a:lnSpc>
                <a:spcPct val="145000"/>
              </a:lnSpc>
              <a:buNone/>
            </a:pPr>
            <a:r>
              <a:rPr lang="en-US" sz="1950" dirty="0">
                <a:solidFill>
                  <a:srgbClr val="69C27E">
                    <a:alpha val="99000"/>
                  </a:srgbClr>
                </a:solidFill>
                <a:latin typeface="IBM Plex Mono" pitchFamily="34" charset="0"/>
                <a:ea typeface="IBM Plex Mono" pitchFamily="34" charset="-122"/>
                <a:cs typeface="IBM Plex Mono" pitchFamily="34" charset="-120"/>
              </a:rPr>
              <a:t>Multi-sig turns "compromise one account" into "compromise the whole team."</a:t>
            </a:r>
            <a:endParaRPr lang="en-US" sz="1950" dirty="0"/>
          </a:p>
        </p:txBody>
      </p:sp>
      <p:sp>
        <p:nvSpPr>
          <p:cNvPr id="7" name="Text 5"/>
          <p:cNvSpPr/>
          <p:nvPr/>
        </p:nvSpPr>
        <p:spPr>
          <a:xfrm>
            <a:off x="1066800" y="9532620"/>
            <a:ext cx="6030341"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Multi-Signature Authentication Web Proxy</a:t>
            </a:r>
            <a:endParaRPr lang="en-US" sz="1800" dirty="0"/>
          </a:p>
        </p:txBody>
      </p:sp>
      <p:sp>
        <p:nvSpPr>
          <p:cNvPr id="8" name="Text 6"/>
          <p:cNvSpPr/>
          <p:nvPr/>
        </p:nvSpPr>
        <p:spPr>
          <a:xfrm>
            <a:off x="16928464" y="9532620"/>
            <a:ext cx="368935"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05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923"/>
        </a:solidFill>
        <a:effectLst/>
      </p:bgPr>
    </p:bg>
    <p:spTree>
      <p:nvGrpSpPr>
        <p:cNvPr id="1" name=""/>
        <p:cNvGrpSpPr/>
        <p:nvPr/>
      </p:nvGrpSpPr>
      <p:grpSpPr>
        <a:xfrm>
          <a:off x="0" y="0"/>
          <a:ext cx="0" cy="0"/>
          <a:chOff x="0" y="0"/>
          <a:chExt cx="0" cy="0"/>
        </a:xfrm>
      </p:grpSpPr>
      <p:sp>
        <p:nvSpPr>
          <p:cNvPr id="2" name="Text 0"/>
          <p:cNvSpPr/>
          <p:nvPr/>
        </p:nvSpPr>
        <p:spPr>
          <a:xfrm>
            <a:off x="1066800" y="914400"/>
            <a:ext cx="16639032"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42B8EF"/>
                </a:solidFill>
                <a:latin typeface="IBM Plex Mono" pitchFamily="34" charset="0"/>
                <a:ea typeface="IBM Plex Mono" pitchFamily="34" charset="-122"/>
                <a:cs typeface="IBM Plex Mono" pitchFamily="34" charset="-120"/>
              </a:rPr>
              <a:t>HOW IT WORKS</a:t>
            </a:r>
            <a:endParaRPr lang="en-US" sz="1800" dirty="0"/>
          </a:p>
        </p:txBody>
      </p:sp>
      <p:sp>
        <p:nvSpPr>
          <p:cNvPr id="3" name="Text 1"/>
          <p:cNvSpPr/>
          <p:nvPr/>
        </p:nvSpPr>
        <p:spPr>
          <a:xfrm>
            <a:off x="1066800" y="1478280"/>
            <a:ext cx="9889236" cy="1068388"/>
          </a:xfrm>
          <a:prstGeom prst="rect">
            <a:avLst/>
          </a:prstGeom>
          <a:noFill/>
          <a:ln/>
        </p:spPr>
        <p:txBody>
          <a:bodyPr wrap="square" lIns="25400" tIns="25400" rIns="25400" bIns="25400" rtlCol="0" anchor="t">
            <a:normAutofit/>
          </a:bodyPr>
          <a:lstStyle/>
          <a:p>
            <a:pPr marL="0" indent="0" algn="l">
              <a:lnSpc>
                <a:spcPct val="104006"/>
              </a:lnSpc>
              <a:buNone/>
            </a:pPr>
            <a:r>
              <a:rPr lang="en-US" sz="3900" b="1" kern="0" spc="-58" dirty="0">
                <a:solidFill>
                  <a:srgbClr val="EFF2F5"/>
                </a:solidFill>
                <a:latin typeface="Space Grotesk" pitchFamily="34" charset="0"/>
                <a:ea typeface="Space Grotesk" pitchFamily="34" charset="-122"/>
                <a:cs typeface="Space Grotesk" pitchFamily="34" charset="-120"/>
              </a:rPr>
              <a:t>Intercept the request, gather approvals, then forward it on.</a:t>
            </a:r>
            <a:endParaRPr lang="en-US" sz="3900" dirty="0"/>
          </a:p>
        </p:txBody>
      </p:sp>
      <p:sp>
        <p:nvSpPr>
          <p:cNvPr id="4" name="Shape 2"/>
          <p:cNvSpPr/>
          <p:nvPr/>
        </p:nvSpPr>
        <p:spPr>
          <a:xfrm>
            <a:off x="1066800" y="4602321"/>
            <a:ext cx="3638550" cy="2421731"/>
          </a:xfrm>
          <a:prstGeom prst="roundRect">
            <a:avLst>
              <a:gd name="adj" fmla="val 5506"/>
            </a:avLst>
          </a:prstGeom>
          <a:solidFill>
            <a:srgbClr val="1B2530"/>
          </a:solidFill>
          <a:ln w="7620">
            <a:solidFill>
              <a:srgbClr val="42B8EF"/>
            </a:solidFill>
            <a:prstDash val="solid"/>
          </a:ln>
        </p:spPr>
        <p:txBody>
          <a:bodyPr/>
          <a:lstStyle/>
          <a:p>
            <a:endParaRPr lang="en-US"/>
          </a:p>
        </p:txBody>
      </p:sp>
      <p:sp>
        <p:nvSpPr>
          <p:cNvPr id="5" name="Text 3"/>
          <p:cNvSpPr/>
          <p:nvPr/>
        </p:nvSpPr>
        <p:spPr>
          <a:xfrm>
            <a:off x="1341120" y="4895691"/>
            <a:ext cx="3182607"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7A8188"/>
                </a:solidFill>
                <a:latin typeface="IBM Plex Mono" pitchFamily="34" charset="0"/>
                <a:ea typeface="IBM Plex Mono" pitchFamily="34" charset="-122"/>
                <a:cs typeface="IBM Plex Mono" pitchFamily="34" charset="-120"/>
              </a:rPr>
              <a:t>01</a:t>
            </a:r>
            <a:endParaRPr lang="en-US" sz="1800" dirty="0"/>
          </a:p>
        </p:txBody>
      </p:sp>
      <p:sp>
        <p:nvSpPr>
          <p:cNvPr id="6" name="Text 4"/>
          <p:cNvSpPr/>
          <p:nvPr/>
        </p:nvSpPr>
        <p:spPr>
          <a:xfrm>
            <a:off x="1341120" y="5326221"/>
            <a:ext cx="3182607" cy="403860"/>
          </a:xfrm>
          <a:prstGeom prst="rect">
            <a:avLst/>
          </a:prstGeom>
          <a:noFill/>
          <a:ln/>
        </p:spPr>
        <p:txBody>
          <a:bodyPr wrap="square" lIns="25400" tIns="25400" rIns="25400" bIns="25400" rtlCol="0" anchor="t">
            <a:normAutofit/>
          </a:bodyPr>
          <a:lstStyle/>
          <a:p>
            <a:pPr marL="0" indent="0" algn="l">
              <a:buNone/>
            </a:pPr>
            <a:r>
              <a:rPr lang="en-US" sz="2250" b="1" dirty="0">
                <a:solidFill>
                  <a:srgbClr val="42B8EF"/>
                </a:solidFill>
                <a:latin typeface="Space Grotesk" pitchFamily="34" charset="0"/>
                <a:ea typeface="Space Grotesk" pitchFamily="34" charset="-122"/>
                <a:cs typeface="Space Grotesk" pitchFamily="34" charset="-120"/>
              </a:rPr>
              <a:t>Intercept</a:t>
            </a:r>
            <a:endParaRPr lang="en-US" sz="2250" dirty="0"/>
          </a:p>
        </p:txBody>
      </p:sp>
      <p:sp>
        <p:nvSpPr>
          <p:cNvPr id="7" name="Text 5"/>
          <p:cNvSpPr/>
          <p:nvPr/>
        </p:nvSpPr>
        <p:spPr>
          <a:xfrm>
            <a:off x="1341120" y="5825331"/>
            <a:ext cx="3182607" cy="943451"/>
          </a:xfrm>
          <a:prstGeom prst="rect">
            <a:avLst/>
          </a:prstGeom>
          <a:noFill/>
          <a:ln/>
        </p:spPr>
        <p:txBody>
          <a:bodyPr wrap="square" lIns="25400" tIns="25400" rIns="25400" bIns="25400" rtlCol="0" anchor="t">
            <a:normAutofit/>
          </a:bodyPr>
          <a:lstStyle/>
          <a:p>
            <a:pPr marL="0" indent="0" algn="l">
              <a:lnSpc>
                <a:spcPct val="132014"/>
              </a:lnSpc>
              <a:buNone/>
            </a:pPr>
            <a:r>
              <a:rPr lang="en-US" sz="1800" dirty="0">
                <a:solidFill>
                  <a:srgbClr val="A5ACB2"/>
                </a:solidFill>
                <a:latin typeface="IBM Plex Sans" pitchFamily="34" charset="0"/>
                <a:ea typeface="IBM Plex Sans" pitchFamily="34" charset="-122"/>
                <a:cs typeface="IBM Plex Sans" pitchFamily="34" charset="-120"/>
              </a:rPr>
              <a:t>User requests the resource. The proxy catches and holds it.</a:t>
            </a:r>
            <a:endParaRPr lang="en-US" sz="1800" dirty="0"/>
          </a:p>
        </p:txBody>
      </p:sp>
      <p:sp>
        <p:nvSpPr>
          <p:cNvPr id="8" name="Text 6"/>
          <p:cNvSpPr/>
          <p:nvPr/>
        </p:nvSpPr>
        <p:spPr>
          <a:xfrm>
            <a:off x="4705350" y="4602321"/>
            <a:ext cx="609600" cy="2459831"/>
          </a:xfrm>
          <a:prstGeom prst="rect">
            <a:avLst/>
          </a:prstGeom>
          <a:noFill/>
          <a:ln/>
        </p:spPr>
        <p:txBody>
          <a:bodyPr wrap="square" lIns="25400" tIns="25400" rIns="25400" bIns="25400" rtlCol="0" anchor="t">
            <a:normAutofit/>
          </a:bodyPr>
          <a:lstStyle/>
          <a:p>
            <a:pPr marL="0" indent="0" algn="l">
              <a:buNone/>
            </a:pPr>
            <a:r>
              <a:rPr lang="en-US" sz="3000" dirty="0">
                <a:solidFill>
                  <a:srgbClr val="7A8188"/>
                </a:solidFill>
                <a:latin typeface="IBM Plex Mono" pitchFamily="34" charset="0"/>
                <a:ea typeface="IBM Plex Mono" pitchFamily="34" charset="-122"/>
                <a:cs typeface="IBM Plex Mono" pitchFamily="34" charset="-120"/>
              </a:rPr>
              <a:t>→</a:t>
            </a:r>
            <a:endParaRPr lang="en-US" sz="3000" dirty="0"/>
          </a:p>
        </p:txBody>
      </p:sp>
      <p:sp>
        <p:nvSpPr>
          <p:cNvPr id="9" name="Shape 7"/>
          <p:cNvSpPr/>
          <p:nvPr/>
        </p:nvSpPr>
        <p:spPr>
          <a:xfrm>
            <a:off x="5238750" y="4602321"/>
            <a:ext cx="3638550" cy="2421731"/>
          </a:xfrm>
          <a:prstGeom prst="roundRect">
            <a:avLst>
              <a:gd name="adj" fmla="val 5506"/>
            </a:avLst>
          </a:prstGeom>
          <a:solidFill>
            <a:srgbClr val="1B2530"/>
          </a:solidFill>
          <a:ln w="7620">
            <a:solidFill>
              <a:srgbClr val="414E5D"/>
            </a:solidFill>
            <a:prstDash val="solid"/>
          </a:ln>
        </p:spPr>
        <p:txBody>
          <a:bodyPr/>
          <a:lstStyle/>
          <a:p>
            <a:endParaRPr lang="en-US"/>
          </a:p>
        </p:txBody>
      </p:sp>
      <p:sp>
        <p:nvSpPr>
          <p:cNvPr id="10" name="Text 8"/>
          <p:cNvSpPr/>
          <p:nvPr/>
        </p:nvSpPr>
        <p:spPr>
          <a:xfrm>
            <a:off x="5513070" y="4895691"/>
            <a:ext cx="3182607"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7A8188"/>
                </a:solidFill>
                <a:latin typeface="IBM Plex Mono" pitchFamily="34" charset="0"/>
                <a:ea typeface="IBM Plex Mono" pitchFamily="34" charset="-122"/>
                <a:cs typeface="IBM Plex Mono" pitchFamily="34" charset="-120"/>
              </a:rPr>
              <a:t>02</a:t>
            </a:r>
            <a:endParaRPr lang="en-US" sz="1800" dirty="0"/>
          </a:p>
        </p:txBody>
      </p:sp>
      <p:sp>
        <p:nvSpPr>
          <p:cNvPr id="11" name="Text 9"/>
          <p:cNvSpPr/>
          <p:nvPr/>
        </p:nvSpPr>
        <p:spPr>
          <a:xfrm>
            <a:off x="5513070" y="5326221"/>
            <a:ext cx="3182607" cy="403860"/>
          </a:xfrm>
          <a:prstGeom prst="rect">
            <a:avLst/>
          </a:prstGeom>
          <a:noFill/>
          <a:ln/>
        </p:spPr>
        <p:txBody>
          <a:bodyPr wrap="square" lIns="25400" tIns="25400" rIns="25400" bIns="25400" rtlCol="0" anchor="t">
            <a:normAutofit/>
          </a:bodyPr>
          <a:lstStyle/>
          <a:p>
            <a:pPr marL="0" indent="0" algn="l">
              <a:buNone/>
            </a:pPr>
            <a:r>
              <a:rPr lang="en-US" sz="2250" b="1" dirty="0">
                <a:solidFill>
                  <a:srgbClr val="EFF2F5"/>
                </a:solidFill>
                <a:latin typeface="Space Grotesk" pitchFamily="34" charset="0"/>
                <a:ea typeface="Space Grotesk" pitchFamily="34" charset="-122"/>
                <a:cs typeface="Space Grotesk" pitchFamily="34" charset="-120"/>
              </a:rPr>
              <a:t>Notify</a:t>
            </a:r>
            <a:endParaRPr lang="en-US" sz="2250" dirty="0"/>
          </a:p>
        </p:txBody>
      </p:sp>
      <p:sp>
        <p:nvSpPr>
          <p:cNvPr id="12" name="Text 10"/>
          <p:cNvSpPr/>
          <p:nvPr/>
        </p:nvSpPr>
        <p:spPr>
          <a:xfrm>
            <a:off x="5513070" y="5825331"/>
            <a:ext cx="3182607" cy="641668"/>
          </a:xfrm>
          <a:prstGeom prst="rect">
            <a:avLst/>
          </a:prstGeom>
          <a:noFill/>
          <a:ln/>
        </p:spPr>
        <p:txBody>
          <a:bodyPr wrap="square" lIns="25400" tIns="25400" rIns="25400" bIns="25400" rtlCol="0" anchor="t">
            <a:normAutofit/>
          </a:bodyPr>
          <a:lstStyle/>
          <a:p>
            <a:pPr marL="0" indent="0" algn="l">
              <a:lnSpc>
                <a:spcPct val="132014"/>
              </a:lnSpc>
              <a:buNone/>
            </a:pPr>
            <a:r>
              <a:rPr lang="en-US" sz="1800" dirty="0">
                <a:solidFill>
                  <a:srgbClr val="A5ACB2"/>
                </a:solidFill>
                <a:latin typeface="IBM Plex Sans" pitchFamily="34" charset="0"/>
                <a:ea typeface="IBM Plex Sans" pitchFamily="34" charset="-122"/>
                <a:cs typeface="IBM Plex Sans" pitchFamily="34" charset="-120"/>
              </a:rPr>
              <a:t>Approvers on the access list are asked to review.</a:t>
            </a:r>
            <a:endParaRPr lang="en-US" sz="1800" dirty="0"/>
          </a:p>
        </p:txBody>
      </p:sp>
      <p:sp>
        <p:nvSpPr>
          <p:cNvPr id="13" name="Text 11"/>
          <p:cNvSpPr/>
          <p:nvPr/>
        </p:nvSpPr>
        <p:spPr>
          <a:xfrm>
            <a:off x="8877300" y="4602321"/>
            <a:ext cx="609600" cy="2459831"/>
          </a:xfrm>
          <a:prstGeom prst="rect">
            <a:avLst/>
          </a:prstGeom>
          <a:noFill/>
          <a:ln/>
        </p:spPr>
        <p:txBody>
          <a:bodyPr wrap="square" lIns="25400" tIns="25400" rIns="25400" bIns="25400" rtlCol="0" anchor="t">
            <a:normAutofit/>
          </a:bodyPr>
          <a:lstStyle/>
          <a:p>
            <a:pPr marL="0" indent="0" algn="l">
              <a:buNone/>
            </a:pPr>
            <a:r>
              <a:rPr lang="en-US" sz="3000" dirty="0">
                <a:solidFill>
                  <a:srgbClr val="7A8188"/>
                </a:solidFill>
                <a:latin typeface="IBM Plex Mono" pitchFamily="34" charset="0"/>
                <a:ea typeface="IBM Plex Mono" pitchFamily="34" charset="-122"/>
                <a:cs typeface="IBM Plex Mono" pitchFamily="34" charset="-120"/>
              </a:rPr>
              <a:t>→</a:t>
            </a:r>
            <a:endParaRPr lang="en-US" sz="3000" dirty="0"/>
          </a:p>
        </p:txBody>
      </p:sp>
      <p:sp>
        <p:nvSpPr>
          <p:cNvPr id="14" name="Shape 12"/>
          <p:cNvSpPr/>
          <p:nvPr/>
        </p:nvSpPr>
        <p:spPr>
          <a:xfrm>
            <a:off x="9410700" y="4602321"/>
            <a:ext cx="3638550" cy="2421731"/>
          </a:xfrm>
          <a:prstGeom prst="roundRect">
            <a:avLst>
              <a:gd name="adj" fmla="val 5506"/>
            </a:avLst>
          </a:prstGeom>
          <a:solidFill>
            <a:srgbClr val="1B2530"/>
          </a:solidFill>
          <a:ln w="7620">
            <a:solidFill>
              <a:srgbClr val="69C27E"/>
            </a:solidFill>
            <a:prstDash val="solid"/>
          </a:ln>
        </p:spPr>
        <p:txBody>
          <a:bodyPr/>
          <a:lstStyle/>
          <a:p>
            <a:endParaRPr lang="en-US"/>
          </a:p>
        </p:txBody>
      </p:sp>
      <p:sp>
        <p:nvSpPr>
          <p:cNvPr id="15" name="Text 13"/>
          <p:cNvSpPr/>
          <p:nvPr/>
        </p:nvSpPr>
        <p:spPr>
          <a:xfrm>
            <a:off x="9685020" y="4895691"/>
            <a:ext cx="3182607"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7A8188"/>
                </a:solidFill>
                <a:latin typeface="IBM Plex Mono" pitchFamily="34" charset="0"/>
                <a:ea typeface="IBM Plex Mono" pitchFamily="34" charset="-122"/>
                <a:cs typeface="IBM Plex Mono" pitchFamily="34" charset="-120"/>
              </a:rPr>
              <a:t>03</a:t>
            </a:r>
            <a:endParaRPr lang="en-US" sz="1800" dirty="0"/>
          </a:p>
        </p:txBody>
      </p:sp>
      <p:sp>
        <p:nvSpPr>
          <p:cNvPr id="16" name="Text 14"/>
          <p:cNvSpPr/>
          <p:nvPr/>
        </p:nvSpPr>
        <p:spPr>
          <a:xfrm>
            <a:off x="9685020" y="5326221"/>
            <a:ext cx="3182607" cy="403860"/>
          </a:xfrm>
          <a:prstGeom prst="rect">
            <a:avLst/>
          </a:prstGeom>
          <a:noFill/>
          <a:ln/>
        </p:spPr>
        <p:txBody>
          <a:bodyPr wrap="square" lIns="25400" tIns="25400" rIns="25400" bIns="25400" rtlCol="0" anchor="t">
            <a:normAutofit/>
          </a:bodyPr>
          <a:lstStyle/>
          <a:p>
            <a:pPr marL="0" indent="0" algn="l">
              <a:buNone/>
            </a:pPr>
            <a:r>
              <a:rPr lang="en-US" sz="2250" b="1" dirty="0">
                <a:solidFill>
                  <a:srgbClr val="69C27E"/>
                </a:solidFill>
                <a:latin typeface="Space Grotesk" pitchFamily="34" charset="0"/>
                <a:ea typeface="Space Grotesk" pitchFamily="34" charset="-122"/>
                <a:cs typeface="Space Grotesk" pitchFamily="34" charset="-120"/>
              </a:rPr>
              <a:t>Quorum</a:t>
            </a:r>
            <a:endParaRPr lang="en-US" sz="2250" dirty="0"/>
          </a:p>
        </p:txBody>
      </p:sp>
      <p:sp>
        <p:nvSpPr>
          <p:cNvPr id="17" name="Text 15"/>
          <p:cNvSpPr/>
          <p:nvPr/>
        </p:nvSpPr>
        <p:spPr>
          <a:xfrm>
            <a:off x="9685020" y="5825331"/>
            <a:ext cx="3182607" cy="641668"/>
          </a:xfrm>
          <a:prstGeom prst="rect">
            <a:avLst/>
          </a:prstGeom>
          <a:noFill/>
          <a:ln/>
        </p:spPr>
        <p:txBody>
          <a:bodyPr wrap="square" lIns="25400" tIns="25400" rIns="25400" bIns="25400" rtlCol="0" anchor="t">
            <a:normAutofit/>
          </a:bodyPr>
          <a:lstStyle/>
          <a:p>
            <a:pPr marL="0" indent="0" algn="l">
              <a:lnSpc>
                <a:spcPct val="132014"/>
              </a:lnSpc>
              <a:buNone/>
            </a:pPr>
            <a:r>
              <a:rPr lang="en-US" sz="1800" dirty="0">
                <a:solidFill>
                  <a:srgbClr val="A5ACB2"/>
                </a:solidFill>
                <a:latin typeface="IBM Plex Sans" pitchFamily="34" charset="0"/>
                <a:ea typeface="IBM Plex Sans" pitchFamily="34" charset="-122"/>
                <a:cs typeface="IBM Plex Sans" pitchFamily="34" charset="-120"/>
              </a:rPr>
              <a:t>Each signer presents their secret key until enough agree.</a:t>
            </a:r>
            <a:endParaRPr lang="en-US" sz="1800" dirty="0"/>
          </a:p>
        </p:txBody>
      </p:sp>
      <p:sp>
        <p:nvSpPr>
          <p:cNvPr id="18" name="Text 16"/>
          <p:cNvSpPr/>
          <p:nvPr/>
        </p:nvSpPr>
        <p:spPr>
          <a:xfrm>
            <a:off x="13049250" y="4602321"/>
            <a:ext cx="609600" cy="2459831"/>
          </a:xfrm>
          <a:prstGeom prst="rect">
            <a:avLst/>
          </a:prstGeom>
          <a:noFill/>
          <a:ln/>
        </p:spPr>
        <p:txBody>
          <a:bodyPr wrap="square" lIns="25400" tIns="25400" rIns="25400" bIns="25400" rtlCol="0" anchor="t">
            <a:normAutofit/>
          </a:bodyPr>
          <a:lstStyle/>
          <a:p>
            <a:pPr marL="0" indent="0" algn="l">
              <a:buNone/>
            </a:pPr>
            <a:r>
              <a:rPr lang="en-US" sz="3000" dirty="0">
                <a:solidFill>
                  <a:srgbClr val="7A8188"/>
                </a:solidFill>
                <a:latin typeface="IBM Plex Mono" pitchFamily="34" charset="0"/>
                <a:ea typeface="IBM Plex Mono" pitchFamily="34" charset="-122"/>
                <a:cs typeface="IBM Plex Mono" pitchFamily="34" charset="-120"/>
              </a:rPr>
              <a:t>→</a:t>
            </a:r>
            <a:endParaRPr lang="en-US" sz="3000" dirty="0"/>
          </a:p>
        </p:txBody>
      </p:sp>
      <p:sp>
        <p:nvSpPr>
          <p:cNvPr id="19" name="Shape 17"/>
          <p:cNvSpPr/>
          <p:nvPr/>
        </p:nvSpPr>
        <p:spPr>
          <a:xfrm>
            <a:off x="13582650" y="4602321"/>
            <a:ext cx="3638550" cy="2421731"/>
          </a:xfrm>
          <a:prstGeom prst="roundRect">
            <a:avLst>
              <a:gd name="adj" fmla="val 5506"/>
            </a:avLst>
          </a:prstGeom>
          <a:solidFill>
            <a:srgbClr val="1B2530"/>
          </a:solidFill>
          <a:ln w="7620">
            <a:solidFill>
              <a:srgbClr val="414E5D"/>
            </a:solidFill>
            <a:prstDash val="solid"/>
          </a:ln>
        </p:spPr>
        <p:txBody>
          <a:bodyPr/>
          <a:lstStyle/>
          <a:p>
            <a:endParaRPr lang="en-US"/>
          </a:p>
        </p:txBody>
      </p:sp>
      <p:sp>
        <p:nvSpPr>
          <p:cNvPr id="20" name="Text 18"/>
          <p:cNvSpPr/>
          <p:nvPr/>
        </p:nvSpPr>
        <p:spPr>
          <a:xfrm>
            <a:off x="13856970" y="4895691"/>
            <a:ext cx="3182607" cy="335280"/>
          </a:xfrm>
          <a:prstGeom prst="rect">
            <a:avLst/>
          </a:prstGeom>
          <a:noFill/>
          <a:ln/>
        </p:spPr>
        <p:txBody>
          <a:bodyPr wrap="square" lIns="25400" tIns="25400" rIns="25400" bIns="25400" rtlCol="0" anchor="t">
            <a:normAutofit/>
          </a:bodyPr>
          <a:lstStyle/>
          <a:p>
            <a:pPr marL="0" indent="0" algn="l">
              <a:buNone/>
            </a:pPr>
            <a:r>
              <a:rPr lang="en-US" sz="1800" kern="0" spc="180" dirty="0">
                <a:solidFill>
                  <a:srgbClr val="7A8188"/>
                </a:solidFill>
                <a:latin typeface="IBM Plex Mono" pitchFamily="34" charset="0"/>
                <a:ea typeface="IBM Plex Mono" pitchFamily="34" charset="-122"/>
                <a:cs typeface="IBM Plex Mono" pitchFamily="34" charset="-120"/>
              </a:rPr>
              <a:t>04</a:t>
            </a:r>
            <a:endParaRPr lang="en-US" sz="1800" dirty="0"/>
          </a:p>
        </p:txBody>
      </p:sp>
      <p:sp>
        <p:nvSpPr>
          <p:cNvPr id="21" name="Text 19"/>
          <p:cNvSpPr/>
          <p:nvPr/>
        </p:nvSpPr>
        <p:spPr>
          <a:xfrm>
            <a:off x="13856970" y="5326221"/>
            <a:ext cx="3182607" cy="403860"/>
          </a:xfrm>
          <a:prstGeom prst="rect">
            <a:avLst/>
          </a:prstGeom>
          <a:noFill/>
          <a:ln/>
        </p:spPr>
        <p:txBody>
          <a:bodyPr wrap="square" lIns="25400" tIns="25400" rIns="25400" bIns="25400" rtlCol="0" anchor="t">
            <a:normAutofit/>
          </a:bodyPr>
          <a:lstStyle/>
          <a:p>
            <a:pPr marL="0" indent="0" algn="l">
              <a:buNone/>
            </a:pPr>
            <a:r>
              <a:rPr lang="en-US" sz="2250" b="1" dirty="0">
                <a:solidFill>
                  <a:srgbClr val="EFF2F5"/>
                </a:solidFill>
                <a:latin typeface="Space Grotesk" pitchFamily="34" charset="0"/>
                <a:ea typeface="Space Grotesk" pitchFamily="34" charset="-122"/>
                <a:cs typeface="Space Grotesk" pitchFamily="34" charset="-120"/>
              </a:rPr>
              <a:t>Forward</a:t>
            </a:r>
            <a:endParaRPr lang="en-US" sz="2250" dirty="0"/>
          </a:p>
        </p:txBody>
      </p:sp>
      <p:sp>
        <p:nvSpPr>
          <p:cNvPr id="22" name="Text 20"/>
          <p:cNvSpPr/>
          <p:nvPr/>
        </p:nvSpPr>
        <p:spPr>
          <a:xfrm>
            <a:off x="13856970" y="5825331"/>
            <a:ext cx="3182607" cy="943451"/>
          </a:xfrm>
          <a:prstGeom prst="rect">
            <a:avLst/>
          </a:prstGeom>
          <a:noFill/>
          <a:ln/>
        </p:spPr>
        <p:txBody>
          <a:bodyPr wrap="square" lIns="25400" tIns="25400" rIns="25400" bIns="25400" rtlCol="0" anchor="t">
            <a:normAutofit/>
          </a:bodyPr>
          <a:lstStyle/>
          <a:p>
            <a:pPr marL="0" indent="0" algn="l">
              <a:lnSpc>
                <a:spcPct val="132014"/>
              </a:lnSpc>
              <a:buNone/>
            </a:pPr>
            <a:r>
              <a:rPr lang="en-US" sz="1800" dirty="0">
                <a:solidFill>
                  <a:srgbClr val="A5ACB2"/>
                </a:solidFill>
                <a:latin typeface="IBM Plex Sans" pitchFamily="34" charset="0"/>
                <a:ea typeface="IBM Plex Sans" pitchFamily="34" charset="-122"/>
                <a:cs typeface="IBM Plex Sans" pitchFamily="34" charset="-120"/>
              </a:rPr>
              <a:t>The held request is released to the endpoint behind the proxy.</a:t>
            </a:r>
            <a:endParaRPr lang="en-US" sz="1800" dirty="0"/>
          </a:p>
        </p:txBody>
      </p:sp>
      <p:sp>
        <p:nvSpPr>
          <p:cNvPr id="23" name="Text 21"/>
          <p:cNvSpPr/>
          <p:nvPr/>
        </p:nvSpPr>
        <p:spPr>
          <a:xfrm>
            <a:off x="1066800" y="9119235"/>
            <a:ext cx="16639032" cy="369570"/>
          </a:xfrm>
          <a:prstGeom prst="rect">
            <a:avLst/>
          </a:prstGeom>
          <a:noFill/>
          <a:ln/>
        </p:spPr>
        <p:txBody>
          <a:bodyPr wrap="square" lIns="25400" tIns="25400" rIns="25400" bIns="25400" rtlCol="0" anchor="t">
            <a:normAutofit/>
          </a:bodyPr>
          <a:lstStyle/>
          <a:p>
            <a:pPr marL="0" indent="0" algn="l">
              <a:lnSpc>
                <a:spcPct val="145000"/>
              </a:lnSpc>
              <a:buNone/>
            </a:pPr>
            <a:r>
              <a:rPr lang="en-US" sz="1800" dirty="0">
                <a:solidFill>
                  <a:srgbClr val="7A8188">
                    <a:alpha val="99000"/>
                  </a:srgbClr>
                </a:solidFill>
                <a:latin typeface="IBM Plex Mono" pitchFamily="34" charset="0"/>
                <a:ea typeface="IBM Plex Mono" pitchFamily="34" charset="-122"/>
                <a:cs typeface="IBM Plex Mono" pitchFamily="34" charset="-120"/>
              </a:rPr>
              <a:t>Configurable per resource via an access control list — quorum size is set per endpoint.</a:t>
            </a:r>
            <a:endParaRPr lang="en-US" sz="1800" dirty="0"/>
          </a:p>
        </p:txBody>
      </p:sp>
      <p:sp>
        <p:nvSpPr>
          <p:cNvPr id="24" name="Text 22"/>
          <p:cNvSpPr/>
          <p:nvPr/>
        </p:nvSpPr>
        <p:spPr>
          <a:xfrm>
            <a:off x="1066800" y="9532620"/>
            <a:ext cx="6030341"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Multi-Signature Authentication Web Proxy</a:t>
            </a:r>
            <a:endParaRPr lang="en-US" sz="1800" dirty="0"/>
          </a:p>
        </p:txBody>
      </p:sp>
      <p:sp>
        <p:nvSpPr>
          <p:cNvPr id="25" name="Text 23"/>
          <p:cNvSpPr/>
          <p:nvPr/>
        </p:nvSpPr>
        <p:spPr>
          <a:xfrm>
            <a:off x="16928464" y="9532620"/>
            <a:ext cx="368935"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06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70E16"/>
          </a:solidFill>
          <a:ln/>
        </p:spPr>
        <p:txBody>
          <a:bodyPr/>
          <a:lstStyle/>
          <a:p>
            <a:endParaRPr lang="en-US"/>
          </a:p>
        </p:txBody>
      </p:sp>
      <p:sp>
        <p:nvSpPr>
          <p:cNvPr id="3" name="Text 1"/>
          <p:cNvSpPr/>
          <p:nvPr/>
        </p:nvSpPr>
        <p:spPr>
          <a:xfrm>
            <a:off x="1066800" y="914400"/>
            <a:ext cx="16639032"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42B8EF"/>
                </a:solidFill>
                <a:latin typeface="IBM Plex Mono" pitchFamily="34" charset="0"/>
                <a:ea typeface="IBM Plex Mono" pitchFamily="34" charset="-122"/>
                <a:cs typeface="IBM Plex Mono" pitchFamily="34" charset="-120"/>
              </a:rPr>
              <a:t>A CONCRETE USE CASE</a:t>
            </a:r>
            <a:endParaRPr lang="en-US" sz="1800" dirty="0"/>
          </a:p>
        </p:txBody>
      </p:sp>
      <p:sp>
        <p:nvSpPr>
          <p:cNvPr id="4" name="Text 2"/>
          <p:cNvSpPr/>
          <p:nvPr/>
        </p:nvSpPr>
        <p:spPr>
          <a:xfrm>
            <a:off x="1066800" y="1478280"/>
            <a:ext cx="16639032" cy="691832"/>
          </a:xfrm>
          <a:prstGeom prst="rect">
            <a:avLst/>
          </a:prstGeom>
          <a:noFill/>
          <a:ln/>
        </p:spPr>
        <p:txBody>
          <a:bodyPr wrap="square" lIns="25400" tIns="25400" rIns="25400" bIns="25400" rtlCol="0" anchor="t">
            <a:normAutofit/>
          </a:bodyPr>
          <a:lstStyle/>
          <a:p>
            <a:pPr marL="0" indent="0" algn="l">
              <a:lnSpc>
                <a:spcPct val="103990"/>
              </a:lnSpc>
              <a:buNone/>
            </a:pPr>
            <a:r>
              <a:rPr lang="en-US" sz="4950" b="1" kern="0" spc="-74" dirty="0">
                <a:solidFill>
                  <a:srgbClr val="EFF2F5"/>
                </a:solidFill>
                <a:latin typeface="Space Grotesk" pitchFamily="34" charset="0"/>
                <a:ea typeface="Space Grotesk" pitchFamily="34" charset="-122"/>
                <a:cs typeface="Space Grotesk" pitchFamily="34" charset="-120"/>
              </a:rPr>
              <a:t>Publishing a package to </a:t>
            </a:r>
            <a:r>
              <a:rPr lang="en-US" sz="4950" b="1" kern="0" spc="-74" dirty="0">
                <a:solidFill>
                  <a:srgbClr val="42B8EF"/>
                </a:solidFill>
                <a:latin typeface="Space Grotesk" pitchFamily="34" charset="0"/>
                <a:ea typeface="Space Grotesk" pitchFamily="34" charset="-122"/>
                <a:cs typeface="Space Grotesk" pitchFamily="34" charset="-120"/>
              </a:rPr>
              <a:t>PyPI</a:t>
            </a:r>
            <a:endParaRPr lang="en-US" sz="4950" dirty="0"/>
          </a:p>
        </p:txBody>
      </p:sp>
      <p:sp>
        <p:nvSpPr>
          <p:cNvPr id="5" name="Text 3"/>
          <p:cNvSpPr/>
          <p:nvPr/>
        </p:nvSpPr>
        <p:spPr>
          <a:xfrm>
            <a:off x="1066800" y="2576989"/>
            <a:ext cx="419100" cy="358140"/>
          </a:xfrm>
          <a:prstGeom prst="rect">
            <a:avLst/>
          </a:prstGeom>
          <a:noFill/>
          <a:ln/>
        </p:spPr>
        <p:txBody>
          <a:bodyPr wrap="square" lIns="25400" tIns="25400" rIns="25400" bIns="25400" rtlCol="0" anchor="t">
            <a:normAutofit/>
          </a:bodyPr>
          <a:lstStyle/>
          <a:p>
            <a:pPr marL="0" indent="0" algn="l">
              <a:buNone/>
            </a:pPr>
            <a:r>
              <a:rPr lang="en-US" sz="1950" b="1" dirty="0">
                <a:solidFill>
                  <a:srgbClr val="42B8EF"/>
                </a:solidFill>
                <a:latin typeface="IBM Plex Mono" pitchFamily="34" charset="0"/>
                <a:ea typeface="IBM Plex Mono" pitchFamily="34" charset="-122"/>
                <a:cs typeface="IBM Plex Mono" pitchFamily="34" charset="-120"/>
              </a:rPr>
              <a:t>01</a:t>
            </a:r>
            <a:endParaRPr lang="en-US" sz="1950" dirty="0"/>
          </a:p>
        </p:txBody>
      </p:sp>
      <p:sp>
        <p:nvSpPr>
          <p:cNvPr id="6" name="Text 4"/>
          <p:cNvSpPr/>
          <p:nvPr/>
        </p:nvSpPr>
        <p:spPr>
          <a:xfrm>
            <a:off x="1638300" y="2500789"/>
            <a:ext cx="4308882" cy="174498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A5ACB2"/>
                </a:solidFill>
                <a:latin typeface="IBM Plex Sans" pitchFamily="34" charset="0"/>
                <a:ea typeface="IBM Plex Sans" pitchFamily="34" charset="-122"/>
                <a:cs typeface="IBM Plex Sans" pitchFamily="34" charset="-120"/>
              </a:rPr>
              <a:t>A maintainer runs </a:t>
            </a:r>
            <a:r>
              <a:rPr lang="en-US" sz="2400" b="1" dirty="0">
                <a:solidFill>
                  <a:srgbClr val="EFF2F5"/>
                </a:solidFill>
                <a:latin typeface="IBM Plex Mono" pitchFamily="34" charset="0"/>
                <a:ea typeface="IBM Plex Mono" pitchFamily="34" charset="-122"/>
                <a:cs typeface="IBM Plex Mono" pitchFamily="34" charset="-120"/>
              </a:rPr>
              <a:t>publish </a:t>
            </a:r>
            <a:r>
              <a:rPr lang="en-US" sz="2400" dirty="0">
                <a:solidFill>
                  <a:srgbClr val="A5ACB2"/>
                </a:solidFill>
                <a:latin typeface="IBM Plex Sans" pitchFamily="34" charset="0"/>
                <a:ea typeface="IBM Plex Sans" pitchFamily="34" charset="-122"/>
                <a:cs typeface="IBM Plex Sans" pitchFamily="34" charset="-120"/>
              </a:rPr>
              <a:t>— the proxy </a:t>
            </a:r>
            <a:r>
              <a:rPr lang="en-US" sz="2400" b="1" dirty="0">
                <a:solidFill>
                  <a:srgbClr val="EFF2F5"/>
                </a:solidFill>
                <a:latin typeface="IBM Plex Sans" pitchFamily="34" charset="0"/>
                <a:ea typeface="IBM Plex Sans" pitchFamily="34" charset="-122"/>
                <a:cs typeface="IBM Plex Sans" pitchFamily="34" charset="-120"/>
              </a:rPr>
              <a:t>intercepts and saves </a:t>
            </a:r>
            <a:r>
              <a:rPr lang="en-US" sz="2400" dirty="0">
                <a:solidFill>
                  <a:srgbClr val="A5ACB2"/>
                </a:solidFill>
                <a:latin typeface="IBM Plex Sans" pitchFamily="34" charset="0"/>
                <a:ea typeface="IBM Plex Sans" pitchFamily="34" charset="-122"/>
                <a:cs typeface="IBM Plex Sans" pitchFamily="34" charset="-120"/>
              </a:rPr>
              <a:t>the release instead of pushing it.</a:t>
            </a:r>
            <a:endParaRPr lang="en-US" sz="2400" dirty="0"/>
          </a:p>
        </p:txBody>
      </p:sp>
      <p:sp>
        <p:nvSpPr>
          <p:cNvPr id="7" name="Text 5"/>
          <p:cNvSpPr/>
          <p:nvPr/>
        </p:nvSpPr>
        <p:spPr>
          <a:xfrm>
            <a:off x="1066800" y="4512469"/>
            <a:ext cx="419100" cy="358140"/>
          </a:xfrm>
          <a:prstGeom prst="rect">
            <a:avLst/>
          </a:prstGeom>
          <a:noFill/>
          <a:ln/>
        </p:spPr>
        <p:txBody>
          <a:bodyPr wrap="square" lIns="25400" tIns="25400" rIns="25400" bIns="25400" rtlCol="0" anchor="t">
            <a:normAutofit/>
          </a:bodyPr>
          <a:lstStyle/>
          <a:p>
            <a:pPr marL="0" indent="0" algn="l">
              <a:buNone/>
            </a:pPr>
            <a:r>
              <a:rPr lang="en-US" sz="1950" b="1" dirty="0">
                <a:solidFill>
                  <a:srgbClr val="42B8EF"/>
                </a:solidFill>
                <a:latin typeface="IBM Plex Mono" pitchFamily="34" charset="0"/>
                <a:ea typeface="IBM Plex Mono" pitchFamily="34" charset="-122"/>
                <a:cs typeface="IBM Plex Mono" pitchFamily="34" charset="-120"/>
              </a:rPr>
              <a:t>02</a:t>
            </a:r>
            <a:endParaRPr lang="en-US" sz="1950" dirty="0"/>
          </a:p>
        </p:txBody>
      </p:sp>
      <p:sp>
        <p:nvSpPr>
          <p:cNvPr id="8" name="Text 6"/>
          <p:cNvSpPr/>
          <p:nvPr/>
        </p:nvSpPr>
        <p:spPr>
          <a:xfrm>
            <a:off x="1638300" y="4436269"/>
            <a:ext cx="4308882" cy="131826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A5ACB2"/>
                </a:solidFill>
                <a:latin typeface="IBM Plex Sans" pitchFamily="34" charset="0"/>
                <a:ea typeface="IBM Plex Sans" pitchFamily="34" charset="-122"/>
                <a:cs typeface="IBM Plex Sans" pitchFamily="34" charset="-120"/>
              </a:rPr>
              <a:t>Other maintainers are </a:t>
            </a:r>
            <a:r>
              <a:rPr lang="en-US" sz="2400" b="1" dirty="0">
                <a:solidFill>
                  <a:srgbClr val="EFF2F5"/>
                </a:solidFill>
                <a:latin typeface="IBM Plex Sans" pitchFamily="34" charset="0"/>
                <a:ea typeface="IBM Plex Sans" pitchFamily="34" charset="-122"/>
                <a:cs typeface="IBM Plex Sans" pitchFamily="34" charset="-120"/>
              </a:rPr>
              <a:t>notified </a:t>
            </a:r>
            <a:r>
              <a:rPr lang="en-US" sz="2400" dirty="0">
                <a:solidFill>
                  <a:srgbClr val="A5ACB2"/>
                </a:solidFill>
                <a:latin typeface="IBM Plex Sans" pitchFamily="34" charset="0"/>
                <a:ea typeface="IBM Plex Sans" pitchFamily="34" charset="-122"/>
                <a:cs typeface="IBM Plex Sans" pitchFamily="34" charset="-120"/>
              </a:rPr>
              <a:t>that a package is awaiting release.</a:t>
            </a:r>
            <a:endParaRPr lang="en-US" sz="2400" dirty="0"/>
          </a:p>
        </p:txBody>
      </p:sp>
      <p:sp>
        <p:nvSpPr>
          <p:cNvPr id="9" name="Text 7"/>
          <p:cNvSpPr/>
          <p:nvPr/>
        </p:nvSpPr>
        <p:spPr>
          <a:xfrm>
            <a:off x="1066800" y="6021229"/>
            <a:ext cx="419100" cy="358140"/>
          </a:xfrm>
          <a:prstGeom prst="rect">
            <a:avLst/>
          </a:prstGeom>
          <a:noFill/>
          <a:ln/>
        </p:spPr>
        <p:txBody>
          <a:bodyPr wrap="square" lIns="25400" tIns="25400" rIns="25400" bIns="25400" rtlCol="0" anchor="t">
            <a:normAutofit/>
          </a:bodyPr>
          <a:lstStyle/>
          <a:p>
            <a:pPr marL="0" indent="0" algn="l">
              <a:buNone/>
            </a:pPr>
            <a:r>
              <a:rPr lang="en-US" sz="1950" b="1" dirty="0">
                <a:solidFill>
                  <a:srgbClr val="42B8EF"/>
                </a:solidFill>
                <a:latin typeface="IBM Plex Mono" pitchFamily="34" charset="0"/>
                <a:ea typeface="IBM Plex Mono" pitchFamily="34" charset="-122"/>
                <a:cs typeface="IBM Plex Mono" pitchFamily="34" charset="-120"/>
              </a:rPr>
              <a:t>03</a:t>
            </a:r>
            <a:endParaRPr lang="en-US" sz="1950" dirty="0"/>
          </a:p>
        </p:txBody>
      </p:sp>
      <p:sp>
        <p:nvSpPr>
          <p:cNvPr id="10" name="Text 8"/>
          <p:cNvSpPr/>
          <p:nvPr/>
        </p:nvSpPr>
        <p:spPr>
          <a:xfrm>
            <a:off x="1638300" y="5945029"/>
            <a:ext cx="4308882" cy="89154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A5ACB2"/>
                </a:solidFill>
                <a:latin typeface="IBM Plex Sans" pitchFamily="34" charset="0"/>
                <a:ea typeface="IBM Plex Sans" pitchFamily="34" charset="-122"/>
                <a:cs typeface="IBM Plex Sans" pitchFamily="34" charset="-120"/>
              </a:rPr>
              <a:t>Approvals are gathered until the </a:t>
            </a:r>
            <a:r>
              <a:rPr lang="en-US" sz="2400" b="1" dirty="0">
                <a:solidFill>
                  <a:srgbClr val="EFF2F5"/>
                </a:solidFill>
                <a:latin typeface="IBM Plex Sans" pitchFamily="34" charset="0"/>
                <a:ea typeface="IBM Plex Sans" pitchFamily="34" charset="-122"/>
                <a:cs typeface="IBM Plex Sans" pitchFamily="34" charset="-120"/>
              </a:rPr>
              <a:t>quorum </a:t>
            </a:r>
            <a:r>
              <a:rPr lang="en-US" sz="2400" dirty="0">
                <a:solidFill>
                  <a:srgbClr val="A5ACB2"/>
                </a:solidFill>
                <a:latin typeface="IBM Plex Sans" pitchFamily="34" charset="0"/>
                <a:ea typeface="IBM Plex Sans" pitchFamily="34" charset="-122"/>
                <a:cs typeface="IBM Plex Sans" pitchFamily="34" charset="-120"/>
              </a:rPr>
              <a:t>is reached.</a:t>
            </a:r>
            <a:endParaRPr lang="en-US" sz="2400" dirty="0"/>
          </a:p>
        </p:txBody>
      </p:sp>
      <p:sp>
        <p:nvSpPr>
          <p:cNvPr id="11" name="Text 9"/>
          <p:cNvSpPr/>
          <p:nvPr/>
        </p:nvSpPr>
        <p:spPr>
          <a:xfrm>
            <a:off x="1066800" y="7103269"/>
            <a:ext cx="419100" cy="358140"/>
          </a:xfrm>
          <a:prstGeom prst="rect">
            <a:avLst/>
          </a:prstGeom>
          <a:noFill/>
          <a:ln/>
        </p:spPr>
        <p:txBody>
          <a:bodyPr wrap="square" lIns="25400" tIns="25400" rIns="25400" bIns="25400" rtlCol="0" anchor="t">
            <a:normAutofit/>
          </a:bodyPr>
          <a:lstStyle/>
          <a:p>
            <a:pPr marL="0" indent="0" algn="l">
              <a:buNone/>
            </a:pPr>
            <a:r>
              <a:rPr lang="en-US" sz="1950" b="1" dirty="0">
                <a:solidFill>
                  <a:srgbClr val="42B8EF"/>
                </a:solidFill>
                <a:latin typeface="IBM Plex Mono" pitchFamily="34" charset="0"/>
                <a:ea typeface="IBM Plex Mono" pitchFamily="34" charset="-122"/>
                <a:cs typeface="IBM Plex Mono" pitchFamily="34" charset="-120"/>
              </a:rPr>
              <a:t>04</a:t>
            </a:r>
            <a:endParaRPr lang="en-US" sz="1950" dirty="0"/>
          </a:p>
        </p:txBody>
      </p:sp>
      <p:sp>
        <p:nvSpPr>
          <p:cNvPr id="12" name="Text 10"/>
          <p:cNvSpPr/>
          <p:nvPr/>
        </p:nvSpPr>
        <p:spPr>
          <a:xfrm>
            <a:off x="1638300" y="7027069"/>
            <a:ext cx="4308882" cy="131826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A5ACB2"/>
                </a:solidFill>
                <a:latin typeface="IBM Plex Sans" pitchFamily="34" charset="0"/>
                <a:ea typeface="IBM Plex Sans" pitchFamily="34" charset="-122"/>
                <a:cs typeface="IBM Plex Sans" pitchFamily="34" charset="-120"/>
              </a:rPr>
              <a:t>Only then is the publish request </a:t>
            </a:r>
            <a:r>
              <a:rPr lang="en-US" sz="2400" b="1" dirty="0">
                <a:solidFill>
                  <a:srgbClr val="EFF2F5"/>
                </a:solidFill>
                <a:latin typeface="IBM Plex Sans" pitchFamily="34" charset="0"/>
                <a:ea typeface="IBM Plex Sans" pitchFamily="34" charset="-122"/>
                <a:cs typeface="IBM Plex Sans" pitchFamily="34" charset="-120"/>
              </a:rPr>
              <a:t>forwarded </a:t>
            </a:r>
            <a:r>
              <a:rPr lang="en-US" sz="2400" dirty="0">
                <a:solidFill>
                  <a:srgbClr val="A5ACB2"/>
                </a:solidFill>
                <a:latin typeface="IBM Plex Sans" pitchFamily="34" charset="0"/>
                <a:ea typeface="IBM Plex Sans" pitchFamily="34" charset="-122"/>
                <a:cs typeface="IBM Plex Sans" pitchFamily="34" charset="-120"/>
              </a:rPr>
              <a:t>on to the public repository.</a:t>
            </a:r>
            <a:endParaRPr lang="en-US" sz="2400" dirty="0"/>
          </a:p>
        </p:txBody>
      </p:sp>
      <p:sp>
        <p:nvSpPr>
          <p:cNvPr id="13" name="Text 11"/>
          <p:cNvSpPr/>
          <p:nvPr/>
        </p:nvSpPr>
        <p:spPr>
          <a:xfrm>
            <a:off x="1066800" y="8677275"/>
            <a:ext cx="7581747" cy="811530"/>
          </a:xfrm>
          <a:prstGeom prst="rect">
            <a:avLst/>
          </a:prstGeom>
          <a:noFill/>
          <a:ln/>
        </p:spPr>
        <p:txBody>
          <a:bodyPr wrap="square" lIns="25400" tIns="25400" rIns="25400" bIns="25400" rtlCol="0" anchor="t">
            <a:normAutofit/>
          </a:bodyPr>
          <a:lstStyle/>
          <a:p>
            <a:pPr marL="0" indent="0" algn="l">
              <a:lnSpc>
                <a:spcPct val="145000"/>
              </a:lnSpc>
              <a:buNone/>
            </a:pPr>
            <a:r>
              <a:rPr lang="en-US" sz="2100" dirty="0">
                <a:solidFill>
                  <a:srgbClr val="A5ACB2">
                    <a:alpha val="99000"/>
                  </a:srgbClr>
                </a:solidFill>
                <a:latin typeface="IBM Plex Sans" pitchFamily="34" charset="0"/>
                <a:ea typeface="IBM Plex Sans" pitchFamily="34" charset="-122"/>
                <a:cs typeface="IBM Plex Sans" pitchFamily="34" charset="-120"/>
              </a:rPr>
              <a:t>No one person can ship to every downstream user on their own.</a:t>
            </a:r>
            <a:endParaRPr lang="en-US" sz="2100" dirty="0"/>
          </a:p>
        </p:txBody>
      </p:sp>
      <p:sp>
        <p:nvSpPr>
          <p:cNvPr id="14" name="Text 12"/>
          <p:cNvSpPr/>
          <p:nvPr/>
        </p:nvSpPr>
        <p:spPr>
          <a:xfrm>
            <a:off x="1066800" y="9532620"/>
            <a:ext cx="6030341"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Multi-Signature Authentication Web Proxy</a:t>
            </a:r>
            <a:endParaRPr lang="en-US" sz="1800" dirty="0"/>
          </a:p>
        </p:txBody>
      </p:sp>
      <p:sp>
        <p:nvSpPr>
          <p:cNvPr id="15" name="Text 13"/>
          <p:cNvSpPr/>
          <p:nvPr/>
        </p:nvSpPr>
        <p:spPr>
          <a:xfrm>
            <a:off x="16928464" y="9532620"/>
            <a:ext cx="368935"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07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923"/>
        </a:solidFill>
        <a:effectLst/>
      </p:bgPr>
    </p:bg>
    <p:spTree>
      <p:nvGrpSpPr>
        <p:cNvPr id="1" name=""/>
        <p:cNvGrpSpPr/>
        <p:nvPr/>
      </p:nvGrpSpPr>
      <p:grpSpPr>
        <a:xfrm>
          <a:off x="0" y="0"/>
          <a:ext cx="0" cy="0"/>
          <a:chOff x="0" y="0"/>
          <a:chExt cx="0" cy="0"/>
        </a:xfrm>
      </p:grpSpPr>
      <p:sp>
        <p:nvSpPr>
          <p:cNvPr id="2" name="Text 0"/>
          <p:cNvSpPr/>
          <p:nvPr/>
        </p:nvSpPr>
        <p:spPr>
          <a:xfrm>
            <a:off x="1066800" y="914400"/>
            <a:ext cx="16639032"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42B8EF"/>
                </a:solidFill>
                <a:latin typeface="IBM Plex Mono" pitchFamily="34" charset="0"/>
                <a:ea typeface="IBM Plex Mono" pitchFamily="34" charset="-122"/>
                <a:cs typeface="IBM Plex Mono" pitchFamily="34" charset="-120"/>
              </a:rPr>
              <a:t>WHERE IT STANDS</a:t>
            </a:r>
            <a:endParaRPr lang="en-US" sz="1800" dirty="0"/>
          </a:p>
        </p:txBody>
      </p:sp>
      <p:sp>
        <p:nvSpPr>
          <p:cNvPr id="3" name="Text 1"/>
          <p:cNvSpPr/>
          <p:nvPr/>
        </p:nvSpPr>
        <p:spPr>
          <a:xfrm>
            <a:off x="1066800" y="1478280"/>
            <a:ext cx="16639032" cy="573088"/>
          </a:xfrm>
          <a:prstGeom prst="rect">
            <a:avLst/>
          </a:prstGeom>
          <a:noFill/>
          <a:ln/>
        </p:spPr>
        <p:txBody>
          <a:bodyPr wrap="square" lIns="25400" tIns="25400" rIns="25400" bIns="25400" rtlCol="0" anchor="t">
            <a:normAutofit/>
          </a:bodyPr>
          <a:lstStyle/>
          <a:p>
            <a:pPr marL="0" indent="0" algn="l">
              <a:lnSpc>
                <a:spcPct val="104012"/>
              </a:lnSpc>
              <a:buNone/>
            </a:pPr>
            <a:r>
              <a:rPr lang="en-US" sz="4050" b="1" kern="0" spc="-61" dirty="0">
                <a:solidFill>
                  <a:srgbClr val="EFF2F5"/>
                </a:solidFill>
                <a:latin typeface="Space Grotesk" pitchFamily="34" charset="0"/>
                <a:ea typeface="Space Grotesk" pitchFamily="34" charset="-122"/>
                <a:cs typeface="Space Grotesk" pitchFamily="34" charset="-120"/>
              </a:rPr>
              <a:t>Still in the research phase</a:t>
            </a:r>
            <a:endParaRPr lang="en-US" sz="4050" dirty="0"/>
          </a:p>
        </p:txBody>
      </p:sp>
      <p:sp>
        <p:nvSpPr>
          <p:cNvPr id="4" name="Text 2"/>
          <p:cNvSpPr/>
          <p:nvPr/>
        </p:nvSpPr>
        <p:spPr>
          <a:xfrm>
            <a:off x="1066800" y="4514056"/>
            <a:ext cx="1474946"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69C27E"/>
                </a:solidFill>
                <a:latin typeface="IBM Plex Mono" pitchFamily="34" charset="0"/>
                <a:ea typeface="IBM Plex Mono" pitchFamily="34" charset="-122"/>
                <a:cs typeface="IBM Plex Mono" pitchFamily="34" charset="-120"/>
              </a:rPr>
              <a:t>THIS WEEK</a:t>
            </a:r>
            <a:endParaRPr lang="en-US" sz="1800" dirty="0"/>
          </a:p>
        </p:txBody>
      </p:sp>
      <p:sp>
        <p:nvSpPr>
          <p:cNvPr id="5" name="Text 3"/>
          <p:cNvSpPr/>
          <p:nvPr/>
        </p:nvSpPr>
        <p:spPr>
          <a:xfrm>
            <a:off x="1066800" y="5099368"/>
            <a:ext cx="261620" cy="364966"/>
          </a:xfrm>
          <a:prstGeom prst="rect">
            <a:avLst/>
          </a:prstGeom>
          <a:noFill/>
          <a:ln/>
        </p:spPr>
        <p:txBody>
          <a:bodyPr wrap="square" lIns="25400" tIns="25400" rIns="25400" bIns="25400" rtlCol="0" anchor="t">
            <a:normAutofit/>
          </a:bodyPr>
          <a:lstStyle/>
          <a:p>
            <a:pPr marL="0" indent="0" algn="l">
              <a:lnSpc>
                <a:spcPct val="131987"/>
              </a:lnSpc>
              <a:buNone/>
            </a:pPr>
            <a:r>
              <a:rPr lang="en-US" sz="1950" dirty="0">
                <a:solidFill>
                  <a:srgbClr val="69C27E"/>
                </a:solidFill>
                <a:latin typeface="IBM Plex Mono" pitchFamily="34" charset="0"/>
                <a:ea typeface="IBM Plex Mono" pitchFamily="34" charset="-122"/>
                <a:cs typeface="IBM Plex Mono" pitchFamily="34" charset="-120"/>
              </a:rPr>
              <a:t>✓</a:t>
            </a:r>
            <a:endParaRPr lang="en-US" sz="1950" dirty="0"/>
          </a:p>
        </p:txBody>
      </p:sp>
      <p:sp>
        <p:nvSpPr>
          <p:cNvPr id="6" name="Text 4"/>
          <p:cNvSpPr/>
          <p:nvPr/>
        </p:nvSpPr>
        <p:spPr>
          <a:xfrm>
            <a:off x="1423670" y="5058887"/>
            <a:ext cx="7709615" cy="415290"/>
          </a:xfrm>
          <a:prstGeom prst="rect">
            <a:avLst/>
          </a:prstGeom>
          <a:noFill/>
          <a:ln/>
        </p:spPr>
        <p:txBody>
          <a:bodyPr wrap="square" lIns="25400" tIns="25400" rIns="25400" bIns="25400" rtlCol="0" anchor="t">
            <a:normAutofit/>
          </a:bodyPr>
          <a:lstStyle/>
          <a:p>
            <a:pPr marL="0" indent="0" algn="l">
              <a:lnSpc>
                <a:spcPct val="132000"/>
              </a:lnSpc>
              <a:buNone/>
            </a:pPr>
            <a:r>
              <a:rPr lang="en-US" sz="2250" dirty="0">
                <a:solidFill>
                  <a:srgbClr val="A5ACB2"/>
                </a:solidFill>
                <a:latin typeface="IBM Plex Sans" pitchFamily="34" charset="0"/>
                <a:ea typeface="IBM Plex Sans" pitchFamily="34" charset="-122"/>
                <a:cs typeface="IBM Plex Sans" pitchFamily="34" charset="-120"/>
              </a:rPr>
              <a:t>Defined the problem, motivation, and real-world use cases</a:t>
            </a:r>
            <a:endParaRPr lang="en-US" sz="2250" dirty="0"/>
          </a:p>
        </p:txBody>
      </p:sp>
      <p:sp>
        <p:nvSpPr>
          <p:cNvPr id="7" name="Text 5"/>
          <p:cNvSpPr/>
          <p:nvPr/>
        </p:nvSpPr>
        <p:spPr>
          <a:xfrm>
            <a:off x="1066800" y="5667058"/>
            <a:ext cx="261620" cy="364966"/>
          </a:xfrm>
          <a:prstGeom prst="rect">
            <a:avLst/>
          </a:prstGeom>
          <a:noFill/>
          <a:ln/>
        </p:spPr>
        <p:txBody>
          <a:bodyPr wrap="square" lIns="25400" tIns="25400" rIns="25400" bIns="25400" rtlCol="0" anchor="t">
            <a:normAutofit/>
          </a:bodyPr>
          <a:lstStyle/>
          <a:p>
            <a:pPr marL="0" indent="0" algn="l">
              <a:lnSpc>
                <a:spcPct val="131987"/>
              </a:lnSpc>
              <a:buNone/>
            </a:pPr>
            <a:r>
              <a:rPr lang="en-US" sz="1950" dirty="0">
                <a:solidFill>
                  <a:srgbClr val="69C27E"/>
                </a:solidFill>
                <a:latin typeface="IBM Plex Mono" pitchFamily="34" charset="0"/>
                <a:ea typeface="IBM Plex Mono" pitchFamily="34" charset="-122"/>
                <a:cs typeface="IBM Plex Mono" pitchFamily="34" charset="-120"/>
              </a:rPr>
              <a:t>✓</a:t>
            </a:r>
            <a:endParaRPr lang="en-US" sz="1950" dirty="0"/>
          </a:p>
        </p:txBody>
      </p:sp>
      <p:sp>
        <p:nvSpPr>
          <p:cNvPr id="8" name="Text 6"/>
          <p:cNvSpPr/>
          <p:nvPr/>
        </p:nvSpPr>
        <p:spPr>
          <a:xfrm>
            <a:off x="1423670" y="5626576"/>
            <a:ext cx="5808945" cy="415290"/>
          </a:xfrm>
          <a:prstGeom prst="rect">
            <a:avLst/>
          </a:prstGeom>
          <a:noFill/>
          <a:ln/>
        </p:spPr>
        <p:txBody>
          <a:bodyPr wrap="square" lIns="25400" tIns="25400" rIns="25400" bIns="25400" rtlCol="0" anchor="t">
            <a:normAutofit/>
          </a:bodyPr>
          <a:lstStyle/>
          <a:p>
            <a:pPr marL="0" indent="0" algn="l">
              <a:lnSpc>
                <a:spcPct val="132000"/>
              </a:lnSpc>
              <a:buNone/>
            </a:pPr>
            <a:r>
              <a:rPr lang="en-US" sz="2250" dirty="0">
                <a:solidFill>
                  <a:srgbClr val="A5ACB2"/>
                </a:solidFill>
                <a:latin typeface="IBM Plex Sans" pitchFamily="34" charset="0"/>
                <a:ea typeface="IBM Plex Sans" pitchFamily="34" charset="-122"/>
                <a:cs typeface="IBM Plex Sans" pitchFamily="34" charset="-120"/>
              </a:rPr>
              <a:t>Mapped the PyPI publishing flow end to end</a:t>
            </a:r>
            <a:endParaRPr lang="en-US" sz="2250" dirty="0"/>
          </a:p>
        </p:txBody>
      </p:sp>
      <p:sp>
        <p:nvSpPr>
          <p:cNvPr id="9" name="Text 7"/>
          <p:cNvSpPr/>
          <p:nvPr/>
        </p:nvSpPr>
        <p:spPr>
          <a:xfrm>
            <a:off x="1066800" y="6234747"/>
            <a:ext cx="261620" cy="364966"/>
          </a:xfrm>
          <a:prstGeom prst="rect">
            <a:avLst/>
          </a:prstGeom>
          <a:noFill/>
          <a:ln/>
        </p:spPr>
        <p:txBody>
          <a:bodyPr wrap="square" lIns="25400" tIns="25400" rIns="25400" bIns="25400" rtlCol="0" anchor="t">
            <a:normAutofit/>
          </a:bodyPr>
          <a:lstStyle/>
          <a:p>
            <a:pPr marL="0" indent="0" algn="l">
              <a:lnSpc>
                <a:spcPct val="131987"/>
              </a:lnSpc>
              <a:buNone/>
            </a:pPr>
            <a:r>
              <a:rPr lang="en-US" sz="1950" dirty="0">
                <a:solidFill>
                  <a:srgbClr val="69C27E"/>
                </a:solidFill>
                <a:latin typeface="IBM Plex Mono" pitchFamily="34" charset="0"/>
                <a:ea typeface="IBM Plex Mono" pitchFamily="34" charset="-122"/>
                <a:cs typeface="IBM Plex Mono" pitchFamily="34" charset="-120"/>
              </a:rPr>
              <a:t>✓</a:t>
            </a:r>
            <a:endParaRPr lang="en-US" sz="1950" dirty="0"/>
          </a:p>
        </p:txBody>
      </p:sp>
      <p:sp>
        <p:nvSpPr>
          <p:cNvPr id="10" name="Text 8"/>
          <p:cNvSpPr/>
          <p:nvPr/>
        </p:nvSpPr>
        <p:spPr>
          <a:xfrm>
            <a:off x="1423670" y="6194266"/>
            <a:ext cx="7741009" cy="415290"/>
          </a:xfrm>
          <a:prstGeom prst="rect">
            <a:avLst/>
          </a:prstGeom>
          <a:noFill/>
          <a:ln/>
        </p:spPr>
        <p:txBody>
          <a:bodyPr wrap="square" lIns="25400" tIns="25400" rIns="25400" bIns="25400" rtlCol="0" anchor="t">
            <a:normAutofit/>
          </a:bodyPr>
          <a:lstStyle/>
          <a:p>
            <a:pPr marL="0" indent="0" algn="l">
              <a:lnSpc>
                <a:spcPct val="132000"/>
              </a:lnSpc>
              <a:buNone/>
            </a:pPr>
            <a:r>
              <a:rPr lang="en-US" sz="2250" dirty="0">
                <a:solidFill>
                  <a:srgbClr val="A5ACB2"/>
                </a:solidFill>
                <a:latin typeface="IBM Plex Sans" pitchFamily="34" charset="0"/>
                <a:ea typeface="IBM Plex Sans" pitchFamily="34" charset="-122"/>
                <a:cs typeface="IBM Plex Sans" pitchFamily="34" charset="-120"/>
              </a:rPr>
              <a:t>Began researching multi-signature cryptography primitives</a:t>
            </a:r>
            <a:endParaRPr lang="en-US" sz="2250" dirty="0"/>
          </a:p>
        </p:txBody>
      </p:sp>
      <p:sp>
        <p:nvSpPr>
          <p:cNvPr id="11" name="Text 9"/>
          <p:cNvSpPr/>
          <p:nvPr/>
        </p:nvSpPr>
        <p:spPr>
          <a:xfrm>
            <a:off x="9334500" y="4514056"/>
            <a:ext cx="1630363" cy="335280"/>
          </a:xfrm>
          <a:prstGeom prst="rect">
            <a:avLst/>
          </a:prstGeom>
          <a:noFill/>
          <a:ln/>
        </p:spPr>
        <p:txBody>
          <a:bodyPr wrap="square" lIns="25400" tIns="25400" rIns="25400" bIns="25400" rtlCol="0" anchor="t">
            <a:normAutofit/>
          </a:bodyPr>
          <a:lstStyle/>
          <a:p>
            <a:pPr marL="0" indent="0" algn="l">
              <a:buNone/>
            </a:pPr>
            <a:r>
              <a:rPr lang="en-US" sz="1800" kern="0" spc="144" dirty="0">
                <a:solidFill>
                  <a:srgbClr val="42B8EF"/>
                </a:solidFill>
                <a:latin typeface="IBM Plex Mono" pitchFamily="34" charset="0"/>
                <a:ea typeface="IBM Plex Mono" pitchFamily="34" charset="-122"/>
                <a:cs typeface="IBM Plex Mono" pitchFamily="34" charset="-120"/>
              </a:rPr>
              <a:t>WEEK AHEAD</a:t>
            </a:r>
            <a:endParaRPr lang="en-US" sz="1800" dirty="0"/>
          </a:p>
        </p:txBody>
      </p:sp>
      <p:sp>
        <p:nvSpPr>
          <p:cNvPr id="12" name="Text 10"/>
          <p:cNvSpPr/>
          <p:nvPr/>
        </p:nvSpPr>
        <p:spPr>
          <a:xfrm>
            <a:off x="9334500" y="5099368"/>
            <a:ext cx="212408" cy="364966"/>
          </a:xfrm>
          <a:prstGeom prst="rect">
            <a:avLst/>
          </a:prstGeom>
          <a:noFill/>
          <a:ln/>
        </p:spPr>
        <p:txBody>
          <a:bodyPr wrap="square" lIns="25400" tIns="25400" rIns="25400" bIns="25400" rtlCol="0" anchor="t">
            <a:normAutofit/>
          </a:bodyPr>
          <a:lstStyle/>
          <a:p>
            <a:pPr marL="0" indent="0" algn="l">
              <a:lnSpc>
                <a:spcPct val="131987"/>
              </a:lnSpc>
              <a:buNone/>
            </a:pPr>
            <a:r>
              <a:rPr lang="en-US" sz="1950" dirty="0">
                <a:solidFill>
                  <a:srgbClr val="42B8EF"/>
                </a:solidFill>
                <a:latin typeface="IBM Plex Mono" pitchFamily="34" charset="0"/>
                <a:ea typeface="IBM Plex Mono" pitchFamily="34" charset="-122"/>
                <a:cs typeface="IBM Plex Mono" pitchFamily="34" charset="-120"/>
              </a:rPr>
              <a:t>→</a:t>
            </a:r>
            <a:endParaRPr lang="en-US" sz="1950" dirty="0"/>
          </a:p>
        </p:txBody>
      </p:sp>
      <p:sp>
        <p:nvSpPr>
          <p:cNvPr id="13" name="Text 11"/>
          <p:cNvSpPr/>
          <p:nvPr/>
        </p:nvSpPr>
        <p:spPr>
          <a:xfrm>
            <a:off x="9642157" y="5058887"/>
            <a:ext cx="7806414" cy="792480"/>
          </a:xfrm>
          <a:prstGeom prst="rect">
            <a:avLst/>
          </a:prstGeom>
          <a:noFill/>
          <a:ln/>
        </p:spPr>
        <p:txBody>
          <a:bodyPr wrap="square" lIns="25400" tIns="25400" rIns="25400" bIns="25400" rtlCol="0" anchor="t">
            <a:normAutofit/>
          </a:bodyPr>
          <a:lstStyle/>
          <a:p>
            <a:pPr marL="0" indent="0" algn="l">
              <a:lnSpc>
                <a:spcPct val="132000"/>
              </a:lnSpc>
              <a:buNone/>
            </a:pPr>
            <a:r>
              <a:rPr lang="en-US" sz="2250" dirty="0">
                <a:solidFill>
                  <a:srgbClr val="A5ACB2"/>
                </a:solidFill>
                <a:latin typeface="IBM Plex Sans" pitchFamily="34" charset="0"/>
                <a:ea typeface="IBM Plex Sans" pitchFamily="34" charset="-122"/>
                <a:cs typeface="IBM Plex Sans" pitchFamily="34" charset="-120"/>
              </a:rPr>
              <a:t>Choose an authentication scheme, grounded in peer-reviewed work</a:t>
            </a:r>
            <a:endParaRPr lang="en-US" sz="2250" dirty="0"/>
          </a:p>
        </p:txBody>
      </p:sp>
      <p:sp>
        <p:nvSpPr>
          <p:cNvPr id="14" name="Text 12"/>
          <p:cNvSpPr/>
          <p:nvPr/>
        </p:nvSpPr>
        <p:spPr>
          <a:xfrm>
            <a:off x="9334500" y="6044247"/>
            <a:ext cx="212408" cy="364966"/>
          </a:xfrm>
          <a:prstGeom prst="rect">
            <a:avLst/>
          </a:prstGeom>
          <a:noFill/>
          <a:ln/>
        </p:spPr>
        <p:txBody>
          <a:bodyPr wrap="square" lIns="25400" tIns="25400" rIns="25400" bIns="25400" rtlCol="0" anchor="t">
            <a:normAutofit/>
          </a:bodyPr>
          <a:lstStyle/>
          <a:p>
            <a:pPr marL="0" indent="0" algn="l">
              <a:lnSpc>
                <a:spcPct val="131987"/>
              </a:lnSpc>
              <a:buNone/>
            </a:pPr>
            <a:r>
              <a:rPr lang="en-US" sz="1950" dirty="0">
                <a:solidFill>
                  <a:srgbClr val="42B8EF"/>
                </a:solidFill>
                <a:latin typeface="IBM Plex Mono" pitchFamily="34" charset="0"/>
                <a:ea typeface="IBM Plex Mono" pitchFamily="34" charset="-122"/>
                <a:cs typeface="IBM Plex Mono" pitchFamily="34" charset="-120"/>
              </a:rPr>
              <a:t>→</a:t>
            </a:r>
            <a:endParaRPr lang="en-US" sz="1950" dirty="0"/>
          </a:p>
        </p:txBody>
      </p:sp>
      <p:sp>
        <p:nvSpPr>
          <p:cNvPr id="15" name="Text 13"/>
          <p:cNvSpPr/>
          <p:nvPr/>
        </p:nvSpPr>
        <p:spPr>
          <a:xfrm>
            <a:off x="9642157" y="6003766"/>
            <a:ext cx="6529054" cy="415290"/>
          </a:xfrm>
          <a:prstGeom prst="rect">
            <a:avLst/>
          </a:prstGeom>
          <a:noFill/>
          <a:ln/>
        </p:spPr>
        <p:txBody>
          <a:bodyPr wrap="square" lIns="25400" tIns="25400" rIns="25400" bIns="25400" rtlCol="0" anchor="t">
            <a:normAutofit/>
          </a:bodyPr>
          <a:lstStyle/>
          <a:p>
            <a:pPr marL="0" indent="0" algn="l">
              <a:lnSpc>
                <a:spcPct val="132000"/>
              </a:lnSpc>
              <a:buNone/>
            </a:pPr>
            <a:r>
              <a:rPr lang="en-US" sz="2250" dirty="0">
                <a:solidFill>
                  <a:srgbClr val="A5ACB2"/>
                </a:solidFill>
                <a:latin typeface="IBM Plex Sans" pitchFamily="34" charset="0"/>
                <a:ea typeface="IBM Plex Sans" pitchFamily="34" charset="-122"/>
                <a:cs typeface="IBM Plex Sans" pitchFamily="34" charset="-120"/>
              </a:rPr>
              <a:t>Write the architecture and data-flow specification</a:t>
            </a:r>
            <a:endParaRPr lang="en-US" sz="2250" dirty="0"/>
          </a:p>
        </p:txBody>
      </p:sp>
      <p:sp>
        <p:nvSpPr>
          <p:cNvPr id="16" name="Text 14"/>
          <p:cNvSpPr/>
          <p:nvPr/>
        </p:nvSpPr>
        <p:spPr>
          <a:xfrm>
            <a:off x="9334500" y="6611938"/>
            <a:ext cx="212408" cy="364966"/>
          </a:xfrm>
          <a:prstGeom prst="rect">
            <a:avLst/>
          </a:prstGeom>
          <a:noFill/>
          <a:ln/>
        </p:spPr>
        <p:txBody>
          <a:bodyPr wrap="square" lIns="25400" tIns="25400" rIns="25400" bIns="25400" rtlCol="0" anchor="t">
            <a:normAutofit/>
          </a:bodyPr>
          <a:lstStyle/>
          <a:p>
            <a:pPr marL="0" indent="0" algn="l">
              <a:lnSpc>
                <a:spcPct val="131987"/>
              </a:lnSpc>
              <a:buNone/>
            </a:pPr>
            <a:r>
              <a:rPr lang="en-US" sz="1950" dirty="0">
                <a:solidFill>
                  <a:srgbClr val="42B8EF"/>
                </a:solidFill>
                <a:latin typeface="IBM Plex Mono" pitchFamily="34" charset="0"/>
                <a:ea typeface="IBM Plex Mono" pitchFamily="34" charset="-122"/>
                <a:cs typeface="IBM Plex Mono" pitchFamily="34" charset="-120"/>
              </a:rPr>
              <a:t>→</a:t>
            </a:r>
            <a:endParaRPr lang="en-US" sz="1950" dirty="0"/>
          </a:p>
        </p:txBody>
      </p:sp>
      <p:sp>
        <p:nvSpPr>
          <p:cNvPr id="17" name="Text 15"/>
          <p:cNvSpPr/>
          <p:nvPr/>
        </p:nvSpPr>
        <p:spPr>
          <a:xfrm>
            <a:off x="9642157" y="6571456"/>
            <a:ext cx="6918378" cy="415290"/>
          </a:xfrm>
          <a:prstGeom prst="rect">
            <a:avLst/>
          </a:prstGeom>
          <a:noFill/>
          <a:ln/>
        </p:spPr>
        <p:txBody>
          <a:bodyPr wrap="square" lIns="25400" tIns="25400" rIns="25400" bIns="25400" rtlCol="0" anchor="t">
            <a:normAutofit/>
          </a:bodyPr>
          <a:lstStyle/>
          <a:p>
            <a:pPr marL="0" indent="0" algn="l">
              <a:lnSpc>
                <a:spcPct val="132000"/>
              </a:lnSpc>
              <a:buNone/>
            </a:pPr>
            <a:r>
              <a:rPr lang="en-US" sz="2250" dirty="0">
                <a:solidFill>
                  <a:srgbClr val="A5ACB2"/>
                </a:solidFill>
                <a:latin typeface="IBM Plex Sans" pitchFamily="34" charset="0"/>
                <a:ea typeface="IBM Plex Sans" pitchFamily="34" charset="-122"/>
                <a:cs typeface="IBM Plex Sans" pitchFamily="34" charset="-120"/>
              </a:rPr>
              <a:t>Specify the proxy, notification, and approval systems</a:t>
            </a:r>
            <a:endParaRPr lang="en-US" sz="2250" dirty="0"/>
          </a:p>
        </p:txBody>
      </p:sp>
      <p:sp>
        <p:nvSpPr>
          <p:cNvPr id="18" name="Text 16"/>
          <p:cNvSpPr/>
          <p:nvPr/>
        </p:nvSpPr>
        <p:spPr>
          <a:xfrm>
            <a:off x="1066800" y="9532620"/>
            <a:ext cx="6030341"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Multi-Signature Authentication Web Proxy</a:t>
            </a:r>
            <a:endParaRPr lang="en-US" sz="1800" dirty="0"/>
          </a:p>
        </p:txBody>
      </p:sp>
      <p:sp>
        <p:nvSpPr>
          <p:cNvPr id="19" name="Text 17"/>
          <p:cNvSpPr/>
          <p:nvPr/>
        </p:nvSpPr>
        <p:spPr>
          <a:xfrm>
            <a:off x="16928464" y="9532620"/>
            <a:ext cx="368935"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08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923"/>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70E16"/>
          </a:solidFill>
          <a:ln/>
        </p:spPr>
        <p:txBody>
          <a:bodyPr/>
          <a:lstStyle/>
          <a:p>
            <a:endParaRPr lang="en-US"/>
          </a:p>
        </p:txBody>
      </p:sp>
      <p:sp>
        <p:nvSpPr>
          <p:cNvPr id="3" name="Text 1"/>
          <p:cNvSpPr/>
          <p:nvPr/>
        </p:nvSpPr>
        <p:spPr>
          <a:xfrm>
            <a:off x="1066800" y="914400"/>
            <a:ext cx="16639032" cy="335280"/>
          </a:xfrm>
          <a:prstGeom prst="rect">
            <a:avLst/>
          </a:prstGeom>
          <a:noFill/>
          <a:ln/>
        </p:spPr>
        <p:txBody>
          <a:bodyPr wrap="square" lIns="25400" tIns="25400" rIns="25400" bIns="25400" rtlCol="0" anchor="ctr">
            <a:normAutofit/>
          </a:bodyPr>
          <a:lstStyle/>
          <a:p>
            <a:pPr marL="0" indent="0" algn="l">
              <a:buNone/>
            </a:pPr>
            <a:r>
              <a:rPr lang="en-US" sz="1800" kern="0" spc="288" dirty="0">
                <a:solidFill>
                  <a:srgbClr val="42B8EF"/>
                </a:solidFill>
                <a:latin typeface="IBM Plex Mono" pitchFamily="34" charset="0"/>
                <a:ea typeface="IBM Plex Mono" pitchFamily="34" charset="-122"/>
                <a:cs typeface="IBM Plex Mono" pitchFamily="34" charset="-120"/>
              </a:rPr>
              <a:t>WHERE I'D LIKE FEEDBACK</a:t>
            </a:r>
            <a:endParaRPr lang="en-US" sz="1800" dirty="0"/>
          </a:p>
        </p:txBody>
      </p:sp>
      <p:sp>
        <p:nvSpPr>
          <p:cNvPr id="4" name="Text 2"/>
          <p:cNvSpPr/>
          <p:nvPr/>
        </p:nvSpPr>
        <p:spPr>
          <a:xfrm>
            <a:off x="1066800" y="1478280"/>
            <a:ext cx="16639032" cy="553244"/>
          </a:xfrm>
          <a:prstGeom prst="rect">
            <a:avLst/>
          </a:prstGeom>
          <a:noFill/>
          <a:ln/>
        </p:spPr>
        <p:txBody>
          <a:bodyPr wrap="square" lIns="25400" tIns="25400" rIns="25400" bIns="25400" rtlCol="0" anchor="t">
            <a:normAutofit/>
          </a:bodyPr>
          <a:lstStyle/>
          <a:p>
            <a:pPr marL="0" indent="0" algn="l">
              <a:lnSpc>
                <a:spcPct val="104006"/>
              </a:lnSpc>
              <a:buNone/>
            </a:pPr>
            <a:r>
              <a:rPr lang="en-US" sz="3900" b="1" kern="0" spc="-58" dirty="0">
                <a:solidFill>
                  <a:srgbClr val="EFF2F5"/>
                </a:solidFill>
                <a:latin typeface="Space Grotesk" pitchFamily="34" charset="0"/>
                <a:ea typeface="Space Grotesk" pitchFamily="34" charset="-122"/>
                <a:cs typeface="Space Grotesk" pitchFamily="34" charset="-120"/>
              </a:rPr>
              <a:t>Three things I'd like your input on</a:t>
            </a:r>
            <a:endParaRPr lang="en-US" sz="3900" dirty="0"/>
          </a:p>
        </p:txBody>
      </p:sp>
      <p:sp>
        <p:nvSpPr>
          <p:cNvPr id="5" name="Shape 3"/>
          <p:cNvSpPr/>
          <p:nvPr/>
        </p:nvSpPr>
        <p:spPr>
          <a:xfrm>
            <a:off x="1066800" y="4141470"/>
            <a:ext cx="5181600" cy="3159760"/>
          </a:xfrm>
          <a:prstGeom prst="roundRect">
            <a:avLst>
              <a:gd name="adj" fmla="val 4220"/>
            </a:avLst>
          </a:prstGeom>
          <a:solidFill>
            <a:srgbClr val="1B2530"/>
          </a:solidFill>
          <a:ln w="7620">
            <a:solidFill>
              <a:srgbClr val="414E5D"/>
            </a:solidFill>
            <a:prstDash val="solid"/>
          </a:ln>
        </p:spPr>
        <p:txBody>
          <a:bodyPr/>
          <a:lstStyle/>
          <a:p>
            <a:endParaRPr lang="en-US"/>
          </a:p>
        </p:txBody>
      </p:sp>
      <p:sp>
        <p:nvSpPr>
          <p:cNvPr id="6" name="Text 4"/>
          <p:cNvSpPr/>
          <p:nvPr/>
        </p:nvSpPr>
        <p:spPr>
          <a:xfrm>
            <a:off x="1417320" y="4511040"/>
            <a:ext cx="4614977" cy="358140"/>
          </a:xfrm>
          <a:prstGeom prst="rect">
            <a:avLst/>
          </a:prstGeom>
          <a:noFill/>
          <a:ln/>
        </p:spPr>
        <p:txBody>
          <a:bodyPr wrap="square" lIns="25400" tIns="25400" rIns="25400" bIns="25400" rtlCol="0" anchor="t">
            <a:normAutofit/>
          </a:bodyPr>
          <a:lstStyle/>
          <a:p>
            <a:pPr marL="0" indent="0" algn="l">
              <a:buNone/>
            </a:pPr>
            <a:r>
              <a:rPr lang="en-US" sz="1950" b="1" kern="0" spc="156" dirty="0">
                <a:solidFill>
                  <a:srgbClr val="42B8EF"/>
                </a:solidFill>
                <a:latin typeface="IBM Plex Mono" pitchFamily="34" charset="0"/>
                <a:ea typeface="IBM Plex Mono" pitchFamily="34" charset="-122"/>
                <a:cs typeface="IBM Plex Mono" pitchFamily="34" charset="-120"/>
              </a:rPr>
              <a:t>01</a:t>
            </a:r>
            <a:endParaRPr lang="en-US" sz="1950" dirty="0"/>
          </a:p>
        </p:txBody>
      </p:sp>
      <p:sp>
        <p:nvSpPr>
          <p:cNvPr id="7" name="Text 5"/>
          <p:cNvSpPr/>
          <p:nvPr/>
        </p:nvSpPr>
        <p:spPr>
          <a:xfrm>
            <a:off x="1417320" y="4983480"/>
            <a:ext cx="4614977" cy="373380"/>
          </a:xfrm>
          <a:prstGeom prst="rect">
            <a:avLst/>
          </a:prstGeom>
          <a:noFill/>
          <a:ln/>
        </p:spPr>
        <p:txBody>
          <a:bodyPr wrap="square" lIns="25400" tIns="25400" rIns="25400" bIns="25400" rtlCol="0" anchor="t">
            <a:normAutofit/>
          </a:bodyPr>
          <a:lstStyle/>
          <a:p>
            <a:pPr marL="0" indent="0" algn="l">
              <a:lnSpc>
                <a:spcPct val="110000"/>
              </a:lnSpc>
              <a:buNone/>
            </a:pPr>
            <a:r>
              <a:rPr lang="en-US" sz="2400" b="1" dirty="0">
                <a:solidFill>
                  <a:srgbClr val="EFF2F5"/>
                </a:solidFill>
                <a:latin typeface="Space Grotesk" pitchFamily="34" charset="0"/>
                <a:ea typeface="Space Grotesk" pitchFamily="34" charset="-122"/>
                <a:cs typeface="Space Grotesk" pitchFamily="34" charset="-120"/>
              </a:rPr>
              <a:t>Bypassing the proxy</a:t>
            </a:r>
            <a:endParaRPr lang="en-US" sz="2400" dirty="0"/>
          </a:p>
        </p:txBody>
      </p:sp>
      <p:sp>
        <p:nvSpPr>
          <p:cNvPr id="8" name="Text 6"/>
          <p:cNvSpPr/>
          <p:nvPr/>
        </p:nvSpPr>
        <p:spPr>
          <a:xfrm>
            <a:off x="1417320" y="5471160"/>
            <a:ext cx="4614977" cy="1498600"/>
          </a:xfrm>
          <a:prstGeom prst="rect">
            <a:avLst/>
          </a:prstGeom>
          <a:noFill/>
          <a:ln/>
        </p:spPr>
        <p:txBody>
          <a:bodyPr wrap="square" lIns="25400" tIns="25400" rIns="25400" bIns="25400" rtlCol="0" anchor="t">
            <a:normAutofit/>
          </a:bodyPr>
          <a:lstStyle/>
          <a:p>
            <a:pPr marL="0" indent="0" algn="l">
              <a:lnSpc>
                <a:spcPct val="141975"/>
              </a:lnSpc>
              <a:buNone/>
            </a:pPr>
            <a:r>
              <a:rPr lang="en-US" sz="2025" dirty="0">
                <a:solidFill>
                  <a:srgbClr val="A5ACB2"/>
                </a:solidFill>
                <a:latin typeface="IBM Plex Sans" pitchFamily="34" charset="0"/>
                <a:ea typeface="IBM Plex Sans" pitchFamily="34" charset="-122"/>
                <a:cs typeface="IBM Plex Sans" pitchFamily="34" charset="-120"/>
              </a:rPr>
              <a:t>For external sites, a user could skip the proxy and log in directly. How would you stop someone from </a:t>
            </a:r>
            <a:r>
              <a:rPr lang="en-US" sz="2025" dirty="0">
                <a:solidFill>
                  <a:srgbClr val="42B8EF"/>
                </a:solidFill>
                <a:latin typeface="IBM Plex Sans" pitchFamily="34" charset="0"/>
                <a:ea typeface="IBM Plex Sans" pitchFamily="34" charset="-122"/>
                <a:cs typeface="IBM Plex Sans" pitchFamily="34" charset="-120"/>
              </a:rPr>
              <a:t>sidestepping </a:t>
            </a:r>
            <a:r>
              <a:rPr lang="en-US" sz="2025" dirty="0">
                <a:solidFill>
                  <a:srgbClr val="A5ACB2"/>
                </a:solidFill>
                <a:latin typeface="IBM Plex Sans" pitchFamily="34" charset="0"/>
                <a:ea typeface="IBM Plex Sans" pitchFamily="34" charset="-122"/>
                <a:cs typeface="IBM Plex Sans" pitchFamily="34" charset="-120"/>
              </a:rPr>
              <a:t>the system entirely?</a:t>
            </a:r>
            <a:endParaRPr lang="en-US" sz="2025" dirty="0"/>
          </a:p>
        </p:txBody>
      </p:sp>
      <p:sp>
        <p:nvSpPr>
          <p:cNvPr id="9" name="Shape 7"/>
          <p:cNvSpPr/>
          <p:nvPr/>
        </p:nvSpPr>
        <p:spPr>
          <a:xfrm>
            <a:off x="6553200" y="4141470"/>
            <a:ext cx="5181600" cy="3159760"/>
          </a:xfrm>
          <a:prstGeom prst="roundRect">
            <a:avLst>
              <a:gd name="adj" fmla="val 4220"/>
            </a:avLst>
          </a:prstGeom>
          <a:solidFill>
            <a:srgbClr val="1B2530"/>
          </a:solidFill>
          <a:ln w="7620">
            <a:solidFill>
              <a:srgbClr val="414E5D"/>
            </a:solidFill>
            <a:prstDash val="solid"/>
          </a:ln>
        </p:spPr>
        <p:txBody>
          <a:bodyPr/>
          <a:lstStyle/>
          <a:p>
            <a:endParaRPr lang="en-US"/>
          </a:p>
        </p:txBody>
      </p:sp>
      <p:sp>
        <p:nvSpPr>
          <p:cNvPr id="10" name="Text 8"/>
          <p:cNvSpPr/>
          <p:nvPr/>
        </p:nvSpPr>
        <p:spPr>
          <a:xfrm>
            <a:off x="6903720" y="4511040"/>
            <a:ext cx="4614977" cy="358140"/>
          </a:xfrm>
          <a:prstGeom prst="rect">
            <a:avLst/>
          </a:prstGeom>
          <a:noFill/>
          <a:ln/>
        </p:spPr>
        <p:txBody>
          <a:bodyPr wrap="square" lIns="25400" tIns="25400" rIns="25400" bIns="25400" rtlCol="0" anchor="t">
            <a:normAutofit/>
          </a:bodyPr>
          <a:lstStyle/>
          <a:p>
            <a:pPr marL="0" indent="0" algn="l">
              <a:buNone/>
            </a:pPr>
            <a:r>
              <a:rPr lang="en-US" sz="1950" b="1" kern="0" spc="156" dirty="0">
                <a:solidFill>
                  <a:srgbClr val="42B8EF"/>
                </a:solidFill>
                <a:latin typeface="IBM Plex Mono" pitchFamily="34" charset="0"/>
                <a:ea typeface="IBM Plex Mono" pitchFamily="34" charset="-122"/>
                <a:cs typeface="IBM Plex Mono" pitchFamily="34" charset="-120"/>
              </a:rPr>
              <a:t>02</a:t>
            </a:r>
            <a:endParaRPr lang="en-US" sz="1950" dirty="0"/>
          </a:p>
        </p:txBody>
      </p:sp>
      <p:sp>
        <p:nvSpPr>
          <p:cNvPr id="11" name="Text 9"/>
          <p:cNvSpPr/>
          <p:nvPr/>
        </p:nvSpPr>
        <p:spPr>
          <a:xfrm>
            <a:off x="6903720" y="4983480"/>
            <a:ext cx="4614977" cy="373380"/>
          </a:xfrm>
          <a:prstGeom prst="rect">
            <a:avLst/>
          </a:prstGeom>
          <a:noFill/>
          <a:ln/>
        </p:spPr>
        <p:txBody>
          <a:bodyPr wrap="square" lIns="25400" tIns="25400" rIns="25400" bIns="25400" rtlCol="0" anchor="t">
            <a:normAutofit/>
          </a:bodyPr>
          <a:lstStyle/>
          <a:p>
            <a:pPr marL="0" indent="0" algn="l">
              <a:lnSpc>
                <a:spcPct val="110000"/>
              </a:lnSpc>
              <a:buNone/>
            </a:pPr>
            <a:r>
              <a:rPr lang="en-US" sz="2400" b="1" dirty="0">
                <a:solidFill>
                  <a:srgbClr val="EFF2F5"/>
                </a:solidFill>
                <a:latin typeface="Space Grotesk" pitchFamily="34" charset="0"/>
                <a:ea typeface="Space Grotesk" pitchFamily="34" charset="-122"/>
                <a:cs typeface="Space Grotesk" pitchFamily="34" charset="-120"/>
              </a:rPr>
              <a:t>The signature scheme</a:t>
            </a:r>
            <a:endParaRPr lang="en-US" sz="2400" dirty="0"/>
          </a:p>
        </p:txBody>
      </p:sp>
      <p:sp>
        <p:nvSpPr>
          <p:cNvPr id="12" name="Text 10"/>
          <p:cNvSpPr/>
          <p:nvPr/>
        </p:nvSpPr>
        <p:spPr>
          <a:xfrm>
            <a:off x="6903720" y="5471160"/>
            <a:ext cx="4614977" cy="1498600"/>
          </a:xfrm>
          <a:prstGeom prst="rect">
            <a:avLst/>
          </a:prstGeom>
          <a:noFill/>
          <a:ln/>
        </p:spPr>
        <p:txBody>
          <a:bodyPr wrap="square" lIns="25400" tIns="25400" rIns="25400" bIns="25400" rtlCol="0" anchor="t">
            <a:normAutofit/>
          </a:bodyPr>
          <a:lstStyle/>
          <a:p>
            <a:pPr marL="0" indent="0" algn="l">
              <a:lnSpc>
                <a:spcPct val="141975"/>
              </a:lnSpc>
              <a:buNone/>
            </a:pPr>
            <a:r>
              <a:rPr lang="en-US" sz="2025" dirty="0">
                <a:solidFill>
                  <a:srgbClr val="A5ACB2"/>
                </a:solidFill>
                <a:latin typeface="IBM Plex Sans" pitchFamily="34" charset="0"/>
                <a:ea typeface="IBM Plex Sans" pitchFamily="34" charset="-122"/>
                <a:cs typeface="IBM Plex Sans" pitchFamily="34" charset="-120"/>
              </a:rPr>
              <a:t>Which cryptographic primitive best combines several people's distinct secrets into </a:t>
            </a:r>
            <a:r>
              <a:rPr lang="en-US" sz="2025" dirty="0">
                <a:solidFill>
                  <a:srgbClr val="69C27E"/>
                </a:solidFill>
                <a:latin typeface="IBM Plex Sans" pitchFamily="34" charset="0"/>
                <a:ea typeface="IBM Plex Sans" pitchFamily="34" charset="-122"/>
                <a:cs typeface="IBM Plex Sans" pitchFamily="34" charset="-120"/>
              </a:rPr>
              <a:t>one approval </a:t>
            </a:r>
            <a:r>
              <a:rPr lang="en-US" sz="2025" dirty="0">
                <a:solidFill>
                  <a:srgbClr val="A5ACB2"/>
                </a:solidFill>
                <a:latin typeface="IBM Plex Sans" pitchFamily="34" charset="0"/>
                <a:ea typeface="IBM Plex Sans" pitchFamily="34" charset="-122"/>
                <a:cs typeface="IBM Plex Sans" pitchFamily="34" charset="-120"/>
              </a:rPr>
              <a:t>— and what prior work should I anchor to?</a:t>
            </a:r>
            <a:endParaRPr lang="en-US" sz="2025" dirty="0"/>
          </a:p>
        </p:txBody>
      </p:sp>
      <p:sp>
        <p:nvSpPr>
          <p:cNvPr id="13" name="Shape 11"/>
          <p:cNvSpPr/>
          <p:nvPr/>
        </p:nvSpPr>
        <p:spPr>
          <a:xfrm>
            <a:off x="12039600" y="4141470"/>
            <a:ext cx="5181600" cy="3159760"/>
          </a:xfrm>
          <a:prstGeom prst="roundRect">
            <a:avLst>
              <a:gd name="adj" fmla="val 4220"/>
            </a:avLst>
          </a:prstGeom>
          <a:solidFill>
            <a:srgbClr val="1B2530"/>
          </a:solidFill>
          <a:ln w="7620">
            <a:solidFill>
              <a:srgbClr val="414E5D"/>
            </a:solidFill>
            <a:prstDash val="solid"/>
          </a:ln>
        </p:spPr>
        <p:txBody>
          <a:bodyPr/>
          <a:lstStyle/>
          <a:p>
            <a:endParaRPr lang="en-US"/>
          </a:p>
        </p:txBody>
      </p:sp>
      <p:sp>
        <p:nvSpPr>
          <p:cNvPr id="14" name="Text 12"/>
          <p:cNvSpPr/>
          <p:nvPr/>
        </p:nvSpPr>
        <p:spPr>
          <a:xfrm>
            <a:off x="12390120" y="4511040"/>
            <a:ext cx="4614977" cy="358140"/>
          </a:xfrm>
          <a:prstGeom prst="rect">
            <a:avLst/>
          </a:prstGeom>
          <a:noFill/>
          <a:ln/>
        </p:spPr>
        <p:txBody>
          <a:bodyPr wrap="square" lIns="25400" tIns="25400" rIns="25400" bIns="25400" rtlCol="0" anchor="t">
            <a:normAutofit/>
          </a:bodyPr>
          <a:lstStyle/>
          <a:p>
            <a:pPr marL="0" indent="0" algn="l">
              <a:buNone/>
            </a:pPr>
            <a:r>
              <a:rPr lang="en-US" sz="1950" b="1" kern="0" spc="156" dirty="0">
                <a:solidFill>
                  <a:srgbClr val="42B8EF"/>
                </a:solidFill>
                <a:latin typeface="IBM Plex Mono" pitchFamily="34" charset="0"/>
                <a:ea typeface="IBM Plex Mono" pitchFamily="34" charset="-122"/>
                <a:cs typeface="IBM Plex Mono" pitchFamily="34" charset="-120"/>
              </a:rPr>
              <a:t>03</a:t>
            </a:r>
            <a:endParaRPr lang="en-US" sz="1950" dirty="0"/>
          </a:p>
        </p:txBody>
      </p:sp>
      <p:sp>
        <p:nvSpPr>
          <p:cNvPr id="15" name="Text 13"/>
          <p:cNvSpPr/>
          <p:nvPr/>
        </p:nvSpPr>
        <p:spPr>
          <a:xfrm>
            <a:off x="12390120" y="4983480"/>
            <a:ext cx="4614977" cy="373380"/>
          </a:xfrm>
          <a:prstGeom prst="rect">
            <a:avLst/>
          </a:prstGeom>
          <a:noFill/>
          <a:ln/>
        </p:spPr>
        <p:txBody>
          <a:bodyPr wrap="square" lIns="25400" tIns="25400" rIns="25400" bIns="25400" rtlCol="0" anchor="t">
            <a:normAutofit/>
          </a:bodyPr>
          <a:lstStyle/>
          <a:p>
            <a:pPr marL="0" indent="0" algn="l">
              <a:lnSpc>
                <a:spcPct val="110000"/>
              </a:lnSpc>
              <a:buNone/>
            </a:pPr>
            <a:r>
              <a:rPr lang="en-US" sz="2400" b="1" dirty="0">
                <a:solidFill>
                  <a:srgbClr val="EFF2F5"/>
                </a:solidFill>
                <a:latin typeface="Space Grotesk" pitchFamily="34" charset="0"/>
                <a:ea typeface="Space Grotesk" pitchFamily="34" charset="-122"/>
                <a:cs typeface="Space Grotesk" pitchFamily="34" charset="-120"/>
              </a:rPr>
              <a:t>Where else it applies</a:t>
            </a:r>
            <a:endParaRPr lang="en-US" sz="2400" dirty="0"/>
          </a:p>
        </p:txBody>
      </p:sp>
      <p:sp>
        <p:nvSpPr>
          <p:cNvPr id="16" name="Text 14"/>
          <p:cNvSpPr/>
          <p:nvPr/>
        </p:nvSpPr>
        <p:spPr>
          <a:xfrm>
            <a:off x="12390120" y="5471160"/>
            <a:ext cx="4614977" cy="1498600"/>
          </a:xfrm>
          <a:prstGeom prst="rect">
            <a:avLst/>
          </a:prstGeom>
          <a:noFill/>
          <a:ln/>
        </p:spPr>
        <p:txBody>
          <a:bodyPr wrap="square" lIns="25400" tIns="25400" rIns="25400" bIns="25400" rtlCol="0" anchor="t">
            <a:normAutofit/>
          </a:bodyPr>
          <a:lstStyle/>
          <a:p>
            <a:pPr marL="0" indent="0" algn="l">
              <a:lnSpc>
                <a:spcPct val="141975"/>
              </a:lnSpc>
              <a:buNone/>
            </a:pPr>
            <a:r>
              <a:rPr lang="en-US" sz="2025" dirty="0">
                <a:solidFill>
                  <a:srgbClr val="A5ACB2"/>
                </a:solidFill>
                <a:latin typeface="IBM Plex Sans" pitchFamily="34" charset="0"/>
                <a:ea typeface="IBM Plex Sans" pitchFamily="34" charset="-122"/>
                <a:cs typeface="IBM Plex Sans" pitchFamily="34" charset="-120"/>
              </a:rPr>
              <a:t>Beyond package publishing, where is "require </a:t>
            </a:r>
            <a:r>
              <a:rPr lang="en-US" sz="2025" dirty="0">
                <a:solidFill>
                  <a:srgbClr val="42B8EF"/>
                </a:solidFill>
                <a:latin typeface="IBM Plex Sans" pitchFamily="34" charset="0"/>
                <a:ea typeface="IBM Plex Sans" pitchFamily="34" charset="-122"/>
                <a:cs typeface="IBM Plex Sans" pitchFamily="34" charset="-120"/>
              </a:rPr>
              <a:t>N people </a:t>
            </a:r>
            <a:r>
              <a:rPr lang="en-US" sz="2025" dirty="0">
                <a:solidFill>
                  <a:srgbClr val="A5ACB2"/>
                </a:solidFill>
                <a:latin typeface="IBM Plex Sans" pitchFamily="34" charset="0"/>
                <a:ea typeface="IBM Plex Sans" pitchFamily="34" charset="-122"/>
                <a:cs typeface="IBM Plex Sans" pitchFamily="34" charset="-120"/>
              </a:rPr>
              <a:t>to approve" genuinely valuable — and which use case should I build around first?</a:t>
            </a:r>
            <a:endParaRPr lang="en-US" sz="2025" dirty="0"/>
          </a:p>
        </p:txBody>
      </p:sp>
      <p:sp>
        <p:nvSpPr>
          <p:cNvPr id="17" name="Text 15"/>
          <p:cNvSpPr/>
          <p:nvPr/>
        </p:nvSpPr>
        <p:spPr>
          <a:xfrm>
            <a:off x="1066800" y="9532620"/>
            <a:ext cx="6030341"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Multi-Signature Authentication Web Proxy</a:t>
            </a:r>
            <a:endParaRPr lang="en-US" sz="1800" dirty="0"/>
          </a:p>
        </p:txBody>
      </p:sp>
      <p:sp>
        <p:nvSpPr>
          <p:cNvPr id="18" name="Text 16"/>
          <p:cNvSpPr/>
          <p:nvPr/>
        </p:nvSpPr>
        <p:spPr>
          <a:xfrm>
            <a:off x="16928464" y="9532620"/>
            <a:ext cx="368935" cy="335280"/>
          </a:xfrm>
          <a:prstGeom prst="rect">
            <a:avLst/>
          </a:prstGeom>
          <a:noFill/>
          <a:ln/>
        </p:spPr>
        <p:txBody>
          <a:bodyPr wrap="square" lIns="25400" tIns="25400" rIns="25400" bIns="25400" rtlCol="0" anchor="t">
            <a:normAutofit/>
          </a:bodyPr>
          <a:lstStyle/>
          <a:p>
            <a:pPr marL="0" indent="0" algn="l">
              <a:buNone/>
            </a:pPr>
            <a:r>
              <a:rPr lang="en-US" sz="1800" kern="0" spc="72" dirty="0">
                <a:solidFill>
                  <a:srgbClr val="7A8188"/>
                </a:solidFill>
                <a:latin typeface="IBM Plex Mono" pitchFamily="34" charset="0"/>
                <a:ea typeface="IBM Plex Mono" pitchFamily="34" charset="-122"/>
                <a:cs typeface="IBM Plex Mono" pitchFamily="34" charset="-120"/>
              </a:rPr>
              <a:t>09</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1505</Words>
  <Application>Microsoft Office PowerPoint</Application>
  <PresentationFormat>Custom</PresentationFormat>
  <Paragraphs>120</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IBM Plex Mono</vt:lpstr>
      <vt:lpstr>IBM Plex Sans</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Barish, Ian G</cp:lastModifiedBy>
  <cp:revision>2</cp:revision>
  <dcterms:created xsi:type="dcterms:W3CDTF">2026-06-03T02:04:14Z</dcterms:created>
  <dcterms:modified xsi:type="dcterms:W3CDTF">2026-06-03T02:08:34Z</dcterms:modified>
</cp:coreProperties>
</file>